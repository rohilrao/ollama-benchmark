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4" r:id="rId4"/>
    <p:sldId id="257" r:id="rId5"/>
    <p:sldId id="260" r:id="rId6"/>
    <p:sldId id="259" r:id="rId7"/>
    <p:sldId id="262" r:id="rId8"/>
    <p:sldId id="261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96960-C5A8-48BC-DB1D-E0DE8FB8A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A57B1A-DC9D-1E46-0913-819637794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0C85F-1221-BE49-083D-984BA1CB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D9A9-32B9-403F-A9BB-5C5C4D5F3A0D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1476-2265-7314-A7D3-C48D7B48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659C9-167C-7460-4161-73BE34A20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820A-68FA-4274-BD9E-D3833544812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2424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6AA75-DB30-8658-5992-1F94301FE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6E9AA-D048-C7D6-89DD-4B0D3955F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ACB4C-4B01-A3BC-0CB9-B329FA6F0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D9A9-32B9-403F-A9BB-5C5C4D5F3A0D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C5DCB-976C-DFD2-7137-03B1EFBAB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06E48-2CCC-173B-1792-204B0CB37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820A-68FA-4274-BD9E-D3833544812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4222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E9096-3AB1-3231-E5A1-7206947AC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505B0-6091-7730-0E55-053DEA81A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24A96-E6E2-7D58-E247-02F107AD0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D9A9-32B9-403F-A9BB-5C5C4D5F3A0D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F207B-F9F0-9255-0D0D-F90E8FF18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99F51-F9A6-1784-FA54-056B9B7D2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820A-68FA-4274-BD9E-D3833544812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4307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3B78C-E82A-CD55-4CAD-768CD5AE2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C9509-5CEF-56D5-2DA0-36AB261C9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D1FC9-E96F-F51B-3DFC-AC3A2230E5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B9D14C-C3EB-0E74-0D2D-0E251315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D9A9-32B9-403F-A9BB-5C5C4D5F3A0D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3B8CC-E920-A583-80F2-685286BA6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2CAC1-EF96-EC92-ED23-66D96A15C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820A-68FA-4274-BD9E-D3833544812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5410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CCA1A-85EA-B63F-F995-CE469804B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EA423-CECF-44FB-F6AD-6EF66B1FA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4183F9-8F3E-5B34-5DA0-045C3759B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DE55B6-0FC2-A942-6937-920E90D7EE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331F81-BA07-9E07-5CD0-35B03E7650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D78EC7-3C49-9F2C-2051-F01A5641E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D9A9-32B9-403F-A9BB-5C5C4D5F3A0D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A4E51C-92EC-3110-44F4-FF065639C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336EE5-97B8-2209-1970-AC4CF3699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820A-68FA-4274-BD9E-D3833544812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8128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D6786-48B9-3626-0E33-A0800C356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FFC760-BC53-8AD3-A843-95CB1B6F3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D9A9-32B9-403F-A9BB-5C5C4D5F3A0D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15D3DD-736A-4BA4-5792-D139CB08B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9FF6E7-352B-23D5-41B9-70669CD6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820A-68FA-4274-BD9E-D3833544812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5002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4FE8F3-6EE8-DB8F-C813-C8445AE25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D9A9-32B9-403F-A9BB-5C5C4D5F3A0D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B57460-DA9A-FE6F-B6D2-E7B18DA39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4DA7A-DFD1-C6C7-431B-B11184363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820A-68FA-4274-BD9E-D3833544812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2582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40D2E-2C1C-944B-FDFA-6D4781564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816B3-05CF-8CDC-FC2D-F0B48731E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D1F737-FB89-4F28-4F41-8311B23B3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15D98B-0344-D5E5-D4E2-CEADE5E38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D9A9-32B9-403F-A9BB-5C5C4D5F3A0D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75619-89A9-1F5C-A950-4D289749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3DF6C-B71D-C962-2A2A-95E388AC8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820A-68FA-4274-BD9E-D3833544812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0219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92516-03D8-19AD-2870-D6C5589BB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2AB0A8-8DAF-D695-12A5-185168313B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80750-509E-0205-27C2-909292E84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21038-B3DF-B1FD-61B7-DC5AD3129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D9A9-32B9-403F-A9BB-5C5C4D5F3A0D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1E3ED-0BBC-8EBB-C4B8-62B21F153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938BE-1331-D4C5-0815-0970DEE7A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820A-68FA-4274-BD9E-D3833544812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1312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CEE08-D2BE-7BD7-767B-657B73E41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B7E41-9C79-2CE0-C43A-5F599EAB7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82287-2AF1-CEB8-06B2-906CCCFAD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D9A9-32B9-403F-A9BB-5C5C4D5F3A0D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050BC-6243-0A67-79DF-B3B0E4B51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48114-218F-4EC1-673C-86A6FA122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820A-68FA-4274-BD9E-D3833544812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6050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C3BEE4-EFB5-068C-F0B8-DE476F1ECD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1CF62-773C-E7A4-2BEB-C5E2F0432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87768-BC68-1C40-989C-55109B595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D9A9-32B9-403F-A9BB-5C5C4D5F3A0D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A53FA-FBAD-1613-955B-E5FD72143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26A93-043A-F9DD-1C5F-3B41E5F1E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820A-68FA-4274-BD9E-D3833544812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7300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B948F7-2D82-C8EE-D817-666B69F76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334D83-21E4-9D49-3A74-123F68A8B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309BF-2899-9027-940B-8182090002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26D9A9-32B9-403F-A9BB-5C5C4D5F3A0D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0D3B4-09B4-723A-4C67-76C56E8563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D3833-1ECD-EAB2-632C-6A0C6D53D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D2820A-68FA-4274-BD9E-D3833544812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8860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19660-83EC-1400-0D56-F0C6A4691E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Ollama</a:t>
            </a:r>
            <a:r>
              <a:rPr lang="de-DE" dirty="0"/>
              <a:t>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vLLM</a:t>
            </a:r>
            <a:r>
              <a:rPr lang="de-DE" dirty="0"/>
              <a:t> </a:t>
            </a:r>
            <a:r>
              <a:rPr lang="de-DE"/>
              <a:t>report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82211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3F641-AB6A-3309-D033-D06C3935F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Container </a:t>
            </a:r>
            <a:r>
              <a:rPr lang="de-DE" dirty="0" err="1"/>
              <a:t>settings</a:t>
            </a:r>
            <a:r>
              <a:rPr lang="de-DE" dirty="0"/>
              <a:t>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548952-BB39-4482-8761-543C27586B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480547"/>
              </p:ext>
            </p:extLst>
          </p:nvPr>
        </p:nvGraphicFramePr>
        <p:xfrm>
          <a:off x="440267" y="1690687"/>
          <a:ext cx="11411422" cy="442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2041">
                  <a:extLst>
                    <a:ext uri="{9D8B030D-6E8A-4147-A177-3AD203B41FA5}">
                      <a16:colId xmlns:a16="http://schemas.microsoft.com/office/drawing/2014/main" val="3353051256"/>
                    </a:ext>
                  </a:extLst>
                </a:gridCol>
                <a:gridCol w="3728302">
                  <a:extLst>
                    <a:ext uri="{9D8B030D-6E8A-4147-A177-3AD203B41FA5}">
                      <a16:colId xmlns:a16="http://schemas.microsoft.com/office/drawing/2014/main" val="2098248057"/>
                    </a:ext>
                  </a:extLst>
                </a:gridCol>
                <a:gridCol w="4751079">
                  <a:extLst>
                    <a:ext uri="{9D8B030D-6E8A-4147-A177-3AD203B41FA5}">
                      <a16:colId xmlns:a16="http://schemas.microsoft.com/office/drawing/2014/main" val="887780682"/>
                    </a:ext>
                  </a:extLst>
                </a:gridCol>
              </a:tblGrid>
              <a:tr h="375541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Ollama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vLLM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136783"/>
                  </a:ext>
                </a:extLst>
              </a:tr>
              <a:tr h="648193">
                <a:tc>
                  <a:txBody>
                    <a:bodyPr/>
                    <a:lstStyle/>
                    <a:p>
                      <a:r>
                        <a:rPr lang="de-DE" b="1" dirty="0"/>
                        <a:t>Num_parallel_requests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Must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be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set</a:t>
                      </a:r>
                      <a:r>
                        <a:rPr lang="de-DE" dirty="0"/>
                        <a:t> at </a:t>
                      </a:r>
                      <a:r>
                        <a:rPr lang="de-DE" dirty="0" err="1"/>
                        <a:t>container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initialization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Inferred based on provided VRAM budget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940509"/>
                  </a:ext>
                </a:extLst>
              </a:tr>
              <a:tr h="648193">
                <a:tc>
                  <a:txBody>
                    <a:bodyPr/>
                    <a:lstStyle/>
                    <a:p>
                      <a:r>
                        <a:rPr lang="de-DE" b="1"/>
                        <a:t>Context_length</a:t>
                      </a:r>
                      <a:endParaRPr lang="de-D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Can </a:t>
                      </a:r>
                      <a:r>
                        <a:rPr lang="de-DE" dirty="0" err="1"/>
                        <a:t>be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requested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dynamically</a:t>
                      </a:r>
                      <a:r>
                        <a:rPr lang="de-DE" dirty="0"/>
                        <a:t> at </a:t>
                      </a:r>
                      <a:r>
                        <a:rPr lang="de-DE" dirty="0" err="1"/>
                        <a:t>runtime</a:t>
                      </a:r>
                      <a:r>
                        <a:rPr lang="de-DE" dirty="0"/>
                        <a:t> 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Fixed at </a:t>
                      </a:r>
                      <a:r>
                        <a:rPr lang="de-DE" dirty="0" err="1"/>
                        <a:t>container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initialization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615370"/>
                  </a:ext>
                </a:extLst>
              </a:tr>
              <a:tr h="925990">
                <a:tc>
                  <a:txBody>
                    <a:bodyPr/>
                    <a:lstStyle/>
                    <a:p>
                      <a:r>
                        <a:rPr lang="de-DE" b="1"/>
                        <a:t>VRAM requirements</a:t>
                      </a:r>
                      <a:endParaRPr lang="de-D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Inferred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dynamically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based</a:t>
                      </a:r>
                      <a:r>
                        <a:rPr lang="de-DE" dirty="0"/>
                        <a:t> on </a:t>
                      </a:r>
                      <a:r>
                        <a:rPr lang="de-DE" dirty="0" err="1"/>
                        <a:t>num_parallel_requests</a:t>
                      </a:r>
                      <a:r>
                        <a:rPr lang="de-DE" dirty="0"/>
                        <a:t> and </a:t>
                      </a:r>
                      <a:r>
                        <a:rPr lang="de-DE" dirty="0" err="1"/>
                        <a:t>context_length</a:t>
                      </a:r>
                      <a:r>
                        <a:rPr lang="de-DE" dirty="0"/>
                        <a:t> of </a:t>
                      </a:r>
                      <a:r>
                        <a:rPr lang="de-DE" dirty="0" err="1"/>
                        <a:t>requests</a:t>
                      </a:r>
                      <a:endParaRPr lang="de-DE" dirty="0"/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Provide VRAM budget upfront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044712"/>
                  </a:ext>
                </a:extLst>
              </a:tr>
              <a:tr h="648193">
                <a:tc>
                  <a:txBody>
                    <a:bodyPr/>
                    <a:lstStyle/>
                    <a:p>
                      <a:r>
                        <a:rPr lang="de-DE" b="1"/>
                        <a:t>Number of models served per container</a:t>
                      </a:r>
                      <a:endParaRPr lang="de-D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As many as you like 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One model per container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838229"/>
                  </a:ext>
                </a:extLst>
              </a:tr>
              <a:tr h="648193">
                <a:tc>
                  <a:txBody>
                    <a:bodyPr/>
                    <a:lstStyle/>
                    <a:p>
                      <a:r>
                        <a:rPr lang="de-DE" b="1"/>
                        <a:t>Model switching</a:t>
                      </a:r>
                      <a:endParaRPr lang="de-D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Ollama loads and unloads models 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We need to start containers for each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480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96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926CE-561C-E142-9B29-F5F7AB8B0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495C9-4F1B-C3C0-71A2-5897035E6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Container </a:t>
            </a:r>
            <a:r>
              <a:rPr lang="de-DE" dirty="0" err="1"/>
              <a:t>settings</a:t>
            </a:r>
            <a:r>
              <a:rPr lang="de-DE" dirty="0"/>
              <a:t>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1E6B806-99A7-C03E-CB0F-6343B57E5C21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1690687"/>
          <a:ext cx="11411422" cy="442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2041">
                  <a:extLst>
                    <a:ext uri="{9D8B030D-6E8A-4147-A177-3AD203B41FA5}">
                      <a16:colId xmlns:a16="http://schemas.microsoft.com/office/drawing/2014/main" val="3353051256"/>
                    </a:ext>
                  </a:extLst>
                </a:gridCol>
                <a:gridCol w="3728302">
                  <a:extLst>
                    <a:ext uri="{9D8B030D-6E8A-4147-A177-3AD203B41FA5}">
                      <a16:colId xmlns:a16="http://schemas.microsoft.com/office/drawing/2014/main" val="2098248057"/>
                    </a:ext>
                  </a:extLst>
                </a:gridCol>
                <a:gridCol w="4751079">
                  <a:extLst>
                    <a:ext uri="{9D8B030D-6E8A-4147-A177-3AD203B41FA5}">
                      <a16:colId xmlns:a16="http://schemas.microsoft.com/office/drawing/2014/main" val="887780682"/>
                    </a:ext>
                  </a:extLst>
                </a:gridCol>
              </a:tblGrid>
              <a:tr h="375541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Ollama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vLLM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136783"/>
                  </a:ext>
                </a:extLst>
              </a:tr>
              <a:tr h="648193">
                <a:tc>
                  <a:txBody>
                    <a:bodyPr/>
                    <a:lstStyle/>
                    <a:p>
                      <a:r>
                        <a:rPr lang="de-DE" b="1" dirty="0"/>
                        <a:t>Num_parallel_requests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Must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be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set</a:t>
                      </a:r>
                      <a:r>
                        <a:rPr lang="de-DE" dirty="0"/>
                        <a:t> at </a:t>
                      </a:r>
                      <a:r>
                        <a:rPr lang="de-DE" dirty="0" err="1"/>
                        <a:t>container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initialization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Inferred based on provided VRAM budget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940509"/>
                  </a:ext>
                </a:extLst>
              </a:tr>
              <a:tr h="648193">
                <a:tc>
                  <a:txBody>
                    <a:bodyPr/>
                    <a:lstStyle/>
                    <a:p>
                      <a:r>
                        <a:rPr lang="de-DE" b="1"/>
                        <a:t>Context_length</a:t>
                      </a:r>
                      <a:endParaRPr lang="de-D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Can </a:t>
                      </a:r>
                      <a:r>
                        <a:rPr lang="de-DE" dirty="0" err="1"/>
                        <a:t>be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requested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dynamically</a:t>
                      </a:r>
                      <a:r>
                        <a:rPr lang="de-DE" dirty="0"/>
                        <a:t> at </a:t>
                      </a:r>
                      <a:r>
                        <a:rPr lang="de-DE" dirty="0" err="1"/>
                        <a:t>runtime</a:t>
                      </a:r>
                      <a:r>
                        <a:rPr lang="de-DE" dirty="0"/>
                        <a:t> 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Fixed at </a:t>
                      </a:r>
                      <a:r>
                        <a:rPr lang="de-DE" dirty="0" err="1"/>
                        <a:t>container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initialization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615370"/>
                  </a:ext>
                </a:extLst>
              </a:tr>
              <a:tr h="925990">
                <a:tc>
                  <a:txBody>
                    <a:bodyPr/>
                    <a:lstStyle/>
                    <a:p>
                      <a:r>
                        <a:rPr lang="de-DE" b="1"/>
                        <a:t>VRAM requirements</a:t>
                      </a:r>
                      <a:endParaRPr lang="de-D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Inferred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dynamically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based</a:t>
                      </a:r>
                      <a:r>
                        <a:rPr lang="de-DE" dirty="0"/>
                        <a:t> on </a:t>
                      </a:r>
                      <a:r>
                        <a:rPr lang="de-DE" dirty="0" err="1"/>
                        <a:t>num_parallel_requests</a:t>
                      </a:r>
                      <a:r>
                        <a:rPr lang="de-DE" dirty="0"/>
                        <a:t> and </a:t>
                      </a:r>
                      <a:r>
                        <a:rPr lang="de-DE" dirty="0" err="1"/>
                        <a:t>context_length</a:t>
                      </a:r>
                      <a:r>
                        <a:rPr lang="de-DE" dirty="0"/>
                        <a:t> of </a:t>
                      </a:r>
                      <a:r>
                        <a:rPr lang="de-DE" dirty="0" err="1"/>
                        <a:t>requests</a:t>
                      </a:r>
                      <a:endParaRPr lang="de-DE" dirty="0"/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Provide VRAM budget upfront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044712"/>
                  </a:ext>
                </a:extLst>
              </a:tr>
              <a:tr h="648193">
                <a:tc>
                  <a:txBody>
                    <a:bodyPr/>
                    <a:lstStyle/>
                    <a:p>
                      <a:r>
                        <a:rPr lang="de-DE" b="1"/>
                        <a:t>Number of models served per container</a:t>
                      </a:r>
                      <a:endParaRPr lang="de-D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As many as you like 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One model per container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838229"/>
                  </a:ext>
                </a:extLst>
              </a:tr>
              <a:tr h="648193">
                <a:tc>
                  <a:txBody>
                    <a:bodyPr/>
                    <a:lstStyle/>
                    <a:p>
                      <a:r>
                        <a:rPr lang="de-DE" b="1"/>
                        <a:t>Model switching</a:t>
                      </a:r>
                      <a:endParaRPr lang="de-D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Ollama loads and unloads models 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We need to start containers for each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480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3035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5A36F-3647-74BF-CC36-D6CDF63BF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-136907"/>
            <a:ext cx="10515600" cy="1325563"/>
          </a:xfrm>
        </p:spPr>
        <p:txBody>
          <a:bodyPr/>
          <a:lstStyle/>
          <a:p>
            <a:r>
              <a:rPr lang="de-DE" dirty="0"/>
              <a:t>Deepseek-r1-0528:q4_k_m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AD6BC3-33E7-6477-3521-ADFB6E395B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18940"/>
              </p:ext>
            </p:extLst>
          </p:nvPr>
        </p:nvGraphicFramePr>
        <p:xfrm>
          <a:off x="440265" y="1451710"/>
          <a:ext cx="11446806" cy="413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8873">
                  <a:extLst>
                    <a:ext uri="{9D8B030D-6E8A-4147-A177-3AD203B41FA5}">
                      <a16:colId xmlns:a16="http://schemas.microsoft.com/office/drawing/2014/main" val="4086339462"/>
                    </a:ext>
                  </a:extLst>
                </a:gridCol>
                <a:gridCol w="1744134">
                  <a:extLst>
                    <a:ext uri="{9D8B030D-6E8A-4147-A177-3AD203B41FA5}">
                      <a16:colId xmlns:a16="http://schemas.microsoft.com/office/drawing/2014/main" val="2023481014"/>
                    </a:ext>
                  </a:extLst>
                </a:gridCol>
                <a:gridCol w="7543799">
                  <a:extLst>
                    <a:ext uri="{9D8B030D-6E8A-4147-A177-3AD203B41FA5}">
                      <a16:colId xmlns:a16="http://schemas.microsoft.com/office/drawing/2014/main" val="3800000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Ollama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vLLM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97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476 </a:t>
                      </a:r>
                      <a:r>
                        <a:rPr lang="de-DE" dirty="0" err="1"/>
                        <a:t>gb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93 * 4 = 372gb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684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Num_parallel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20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400</a:t>
                      </a:r>
                      <a:r>
                        <a:rPr lang="de-DE" dirty="0"/>
                        <a:t> parallel </a:t>
                      </a:r>
                      <a:r>
                        <a:rPr lang="de-DE" dirty="0" err="1"/>
                        <a:t>requests</a:t>
                      </a:r>
                      <a:r>
                        <a:rPr lang="de-DE" dirty="0"/>
                        <a:t> possible at </a:t>
                      </a:r>
                      <a:r>
                        <a:rPr lang="de-DE" dirty="0" err="1"/>
                        <a:t>smaller</a:t>
                      </a:r>
                      <a:r>
                        <a:rPr lang="de-DE" dirty="0"/>
                        <a:t> KV Cache </a:t>
                      </a:r>
                      <a:r>
                        <a:rPr lang="de-DE" dirty="0" err="1"/>
                        <a:t>utilitzation</a:t>
                      </a:r>
                      <a:r>
                        <a:rPr lang="de-DE" dirty="0"/>
                        <a:t> (i.e. </a:t>
                      </a:r>
                      <a:r>
                        <a:rPr lang="de-DE" dirty="0" err="1"/>
                        <a:t>when</a:t>
                      </a:r>
                      <a:r>
                        <a:rPr lang="de-DE" dirty="0"/>
                        <a:t> the </a:t>
                      </a:r>
                      <a:r>
                        <a:rPr lang="de-DE" dirty="0" err="1"/>
                        <a:t>context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remains</a:t>
                      </a:r>
                      <a:r>
                        <a:rPr lang="de-DE" dirty="0"/>
                        <a:t> small)</a:t>
                      </a:r>
                    </a:p>
                    <a:p>
                      <a:endParaRPr lang="de-DE" dirty="0"/>
                    </a:p>
                    <a:p>
                      <a:r>
                        <a:rPr lang="de-DE" dirty="0"/>
                        <a:t>As the </a:t>
                      </a:r>
                      <a:r>
                        <a:rPr lang="de-DE" dirty="0" err="1"/>
                        <a:t>context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grows</a:t>
                      </a:r>
                      <a:r>
                        <a:rPr lang="de-DE" dirty="0"/>
                        <a:t>, </a:t>
                      </a:r>
                      <a:r>
                        <a:rPr lang="de-DE" dirty="0" err="1"/>
                        <a:t>this</a:t>
                      </a:r>
                      <a:r>
                        <a:rPr lang="de-DE" dirty="0"/>
                        <a:t> will </a:t>
                      </a:r>
                      <a:r>
                        <a:rPr lang="de-DE" dirty="0" err="1"/>
                        <a:t>reduce</a:t>
                      </a:r>
                      <a:r>
                        <a:rPr lang="de-DE" dirty="0"/>
                        <a:t>. </a:t>
                      </a:r>
                      <a:r>
                        <a:rPr lang="de-DE" dirty="0" err="1"/>
                        <a:t>vLLMs</a:t>
                      </a:r>
                      <a:r>
                        <a:rPr lang="de-DE" dirty="0"/>
                        <a:t> own </a:t>
                      </a:r>
                      <a:r>
                        <a:rPr lang="de-DE" dirty="0" err="1"/>
                        <a:t>estimate</a:t>
                      </a:r>
                      <a:r>
                        <a:rPr lang="de-DE" dirty="0"/>
                        <a:t>: </a:t>
                      </a:r>
                      <a:r>
                        <a:rPr lang="en-US" dirty="0"/>
                        <a:t>Maximum concurrency for 32,768 tokens per request: </a:t>
                      </a:r>
                      <a:r>
                        <a:rPr lang="en-US" b="1" dirty="0"/>
                        <a:t>12.14x</a:t>
                      </a:r>
                      <a:endParaRPr lang="de-DE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80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TTFT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1.78 sec (at 400)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816532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r>
                        <a:rPr lang="de-DE" dirty="0"/>
                        <a:t>Tokens/sec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3398.6 tokens/s, Running: 399 </a:t>
                      </a:r>
                      <a:r>
                        <a:rPr lang="en-US" dirty="0" err="1"/>
                        <a:t>reqs</a:t>
                      </a:r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44.5 tokens/s, Running: 3 </a:t>
                      </a:r>
                      <a:r>
                        <a:rPr lang="en-US" dirty="0" err="1"/>
                        <a:t>reqs</a:t>
                      </a:r>
                      <a:endParaRPr lang="en-US" dirty="0"/>
                    </a:p>
                    <a:p>
                      <a:r>
                        <a:rPr lang="en-US" dirty="0"/>
                        <a:t>(at lower concurrency it is comparable to </a:t>
                      </a:r>
                      <a:r>
                        <a:rPr lang="en-US" dirty="0" err="1"/>
                        <a:t>ollama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122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Tokens/sec/</a:t>
                      </a:r>
                      <a:r>
                        <a:rPr lang="de-DE" dirty="0" err="1"/>
                        <a:t>request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8-10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~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45936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62FBBAC-DC59-C3AE-7FB7-BD69005D7630}"/>
              </a:ext>
            </a:extLst>
          </p:cNvPr>
          <p:cNvSpPr txBox="1"/>
          <p:nvPr/>
        </p:nvSpPr>
        <p:spPr>
          <a:xfrm>
            <a:off x="355599" y="1008116"/>
            <a:ext cx="7552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Context</a:t>
            </a:r>
            <a:r>
              <a:rPr lang="de-DE" dirty="0"/>
              <a:t> </a:t>
            </a:r>
            <a:r>
              <a:rPr lang="de-DE" dirty="0" err="1"/>
              <a:t>length</a:t>
            </a:r>
            <a:r>
              <a:rPr lang="de-DE" dirty="0"/>
              <a:t>: 32K</a:t>
            </a:r>
          </a:p>
          <a:p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D92829-6BEF-C57A-E47A-5E5D78A220F2}"/>
              </a:ext>
            </a:extLst>
          </p:cNvPr>
          <p:cNvSpPr txBox="1"/>
          <p:nvPr/>
        </p:nvSpPr>
        <p:spPr>
          <a:xfrm>
            <a:off x="355599" y="5849884"/>
            <a:ext cx="116161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Footnote</a:t>
            </a:r>
            <a:r>
              <a:rPr lang="de-DE" dirty="0"/>
              <a:t>: </a:t>
            </a:r>
            <a:r>
              <a:rPr lang="de-DE" dirty="0" err="1"/>
              <a:t>vLLM</a:t>
            </a:r>
            <a:r>
              <a:rPr lang="de-DE" dirty="0"/>
              <a:t> </a:t>
            </a:r>
            <a:r>
              <a:rPr lang="de-DE" dirty="0" err="1"/>
              <a:t>provides</a:t>
            </a:r>
            <a:r>
              <a:rPr lang="de-DE" dirty="0"/>
              <a:t> a </a:t>
            </a:r>
            <a:r>
              <a:rPr lang="de-DE" dirty="0" err="1"/>
              <a:t>lot</a:t>
            </a:r>
            <a:r>
              <a:rPr lang="de-DE" dirty="0"/>
              <a:t> of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metrics</a:t>
            </a:r>
            <a:r>
              <a:rPr lang="de-DE" dirty="0"/>
              <a:t> </a:t>
            </a:r>
            <a:r>
              <a:rPr lang="de-DE" dirty="0" err="1"/>
              <a:t>server</a:t>
            </a:r>
            <a:r>
              <a:rPr lang="de-DE" dirty="0"/>
              <a:t> </a:t>
            </a:r>
            <a:r>
              <a:rPr lang="de-DE" dirty="0" err="1"/>
              <a:t>side</a:t>
            </a:r>
            <a:r>
              <a:rPr lang="de-DE" dirty="0"/>
              <a:t> via </a:t>
            </a:r>
            <a:r>
              <a:rPr lang="de-DE" dirty="0" err="1"/>
              <a:t>api</a:t>
            </a:r>
            <a:r>
              <a:rPr lang="de-DE" dirty="0"/>
              <a:t> /</a:t>
            </a:r>
            <a:r>
              <a:rPr lang="de-DE" dirty="0" err="1"/>
              <a:t>metrics</a:t>
            </a:r>
            <a:r>
              <a:rPr lang="de-DE" dirty="0"/>
              <a:t>. As of Aug 2026, </a:t>
            </a:r>
            <a:r>
              <a:rPr lang="de-DE" dirty="0" err="1"/>
              <a:t>Ollama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not </a:t>
            </a:r>
            <a:r>
              <a:rPr lang="de-DE" dirty="0" err="1"/>
              <a:t>natively</a:t>
            </a:r>
            <a:r>
              <a:rPr lang="de-DE" dirty="0"/>
              <a:t> </a:t>
            </a:r>
            <a:r>
              <a:rPr lang="de-DE" dirty="0" err="1"/>
              <a:t>provide</a:t>
            </a:r>
            <a:r>
              <a:rPr lang="de-DE" dirty="0"/>
              <a:t> </a:t>
            </a:r>
            <a:r>
              <a:rPr lang="de-DE" dirty="0" err="1"/>
              <a:t>server</a:t>
            </a:r>
            <a:r>
              <a:rPr lang="de-DE" dirty="0"/>
              <a:t> </a:t>
            </a:r>
            <a:r>
              <a:rPr lang="de-DE" dirty="0" err="1"/>
              <a:t>side</a:t>
            </a:r>
            <a:r>
              <a:rPr lang="de-DE" dirty="0"/>
              <a:t> </a:t>
            </a:r>
            <a:r>
              <a:rPr lang="de-DE" dirty="0" err="1"/>
              <a:t>metrics</a:t>
            </a:r>
            <a:r>
              <a:rPr lang="de-DE" dirty="0"/>
              <a:t>.  It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however</a:t>
            </a:r>
            <a:r>
              <a:rPr lang="de-DE" dirty="0"/>
              <a:t> </a:t>
            </a:r>
            <a:r>
              <a:rPr lang="de-DE" dirty="0" err="1"/>
              <a:t>provide</a:t>
            </a:r>
            <a:r>
              <a:rPr lang="de-DE" dirty="0"/>
              <a:t> per </a:t>
            </a:r>
            <a:r>
              <a:rPr lang="de-DE" dirty="0" err="1"/>
              <a:t>request</a:t>
            </a:r>
            <a:r>
              <a:rPr lang="de-DE" dirty="0"/>
              <a:t> </a:t>
            </a:r>
            <a:r>
              <a:rPr lang="de-DE" dirty="0" err="1"/>
              <a:t>latency</a:t>
            </a:r>
            <a:r>
              <a:rPr lang="de-DE" dirty="0"/>
              <a:t> </a:t>
            </a:r>
            <a:r>
              <a:rPr lang="de-DE" dirty="0" err="1"/>
              <a:t>metrics</a:t>
            </a:r>
            <a:r>
              <a:rPr lang="de-DE" dirty="0"/>
              <a:t> </a:t>
            </a:r>
            <a:r>
              <a:rPr lang="de-DE" dirty="0" err="1"/>
              <a:t>bundled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request</a:t>
            </a:r>
            <a:r>
              <a:rPr lang="de-DE" dirty="0"/>
              <a:t>.  Memory </a:t>
            </a:r>
            <a:r>
              <a:rPr lang="de-DE" dirty="0" err="1"/>
              <a:t>requirements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checked</a:t>
            </a:r>
            <a:r>
              <a:rPr lang="de-DE" dirty="0"/>
              <a:t> via </a:t>
            </a:r>
            <a:r>
              <a:rPr lang="de-DE" dirty="0" err="1"/>
              <a:t>ollama</a:t>
            </a:r>
            <a:r>
              <a:rPr lang="de-DE" dirty="0"/>
              <a:t> ps.</a:t>
            </a:r>
          </a:p>
        </p:txBody>
      </p:sp>
    </p:spTree>
    <p:extLst>
      <p:ext uri="{BB962C8B-B14F-4D97-AF65-F5344CB8AC3E}">
        <p14:creationId xmlns:p14="http://schemas.microsoft.com/office/powerpoint/2010/main" val="3778869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0D89-EBDC-5077-5818-E49B7E824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Deepseek-r1-0528:q4_k_m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18CF2-5974-8E46-BEAB-EA75658F0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333" y="1524000"/>
            <a:ext cx="10803467" cy="4720696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Context</a:t>
            </a:r>
            <a:r>
              <a:rPr lang="de-DE" dirty="0"/>
              <a:t> </a:t>
            </a:r>
            <a:r>
              <a:rPr lang="de-DE" dirty="0" err="1"/>
              <a:t>length</a:t>
            </a:r>
            <a:r>
              <a:rPr lang="de-DE" dirty="0"/>
              <a:t>: 64K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E28E36-F8F3-612C-7154-3188B9CED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683473"/>
              </p:ext>
            </p:extLst>
          </p:nvPr>
        </p:nvGraphicFramePr>
        <p:xfrm>
          <a:off x="618066" y="2109576"/>
          <a:ext cx="11446806" cy="413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8873">
                  <a:extLst>
                    <a:ext uri="{9D8B030D-6E8A-4147-A177-3AD203B41FA5}">
                      <a16:colId xmlns:a16="http://schemas.microsoft.com/office/drawing/2014/main" val="3503107783"/>
                    </a:ext>
                  </a:extLst>
                </a:gridCol>
                <a:gridCol w="1744134">
                  <a:extLst>
                    <a:ext uri="{9D8B030D-6E8A-4147-A177-3AD203B41FA5}">
                      <a16:colId xmlns:a16="http://schemas.microsoft.com/office/drawing/2014/main" val="3770354634"/>
                    </a:ext>
                  </a:extLst>
                </a:gridCol>
                <a:gridCol w="7543799">
                  <a:extLst>
                    <a:ext uri="{9D8B030D-6E8A-4147-A177-3AD203B41FA5}">
                      <a16:colId xmlns:a16="http://schemas.microsoft.com/office/drawing/2014/main" val="3485585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Ollama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vLLM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465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VRAM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timed</a:t>
                      </a:r>
                      <a:r>
                        <a:rPr lang="de-DE" dirty="0"/>
                        <a:t> out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110 * 4 = 440 </a:t>
                      </a:r>
                      <a:r>
                        <a:rPr lang="de-DE" dirty="0" err="1"/>
                        <a:t>gb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123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Num_parallel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400</a:t>
                      </a:r>
                      <a:r>
                        <a:rPr lang="de-DE" dirty="0"/>
                        <a:t> parallel </a:t>
                      </a:r>
                      <a:r>
                        <a:rPr lang="de-DE" dirty="0" err="1"/>
                        <a:t>requests</a:t>
                      </a:r>
                      <a:r>
                        <a:rPr lang="de-DE" dirty="0"/>
                        <a:t> possible at </a:t>
                      </a:r>
                      <a:r>
                        <a:rPr lang="de-DE" dirty="0" err="1"/>
                        <a:t>smaller</a:t>
                      </a:r>
                      <a:r>
                        <a:rPr lang="de-DE" dirty="0"/>
                        <a:t> KV Cache </a:t>
                      </a:r>
                      <a:r>
                        <a:rPr lang="de-DE" dirty="0" err="1"/>
                        <a:t>utilitzation</a:t>
                      </a:r>
                      <a:r>
                        <a:rPr lang="de-DE" dirty="0"/>
                        <a:t> (i.e. </a:t>
                      </a:r>
                      <a:r>
                        <a:rPr lang="de-DE" dirty="0" err="1"/>
                        <a:t>when</a:t>
                      </a:r>
                      <a:r>
                        <a:rPr lang="de-DE" dirty="0"/>
                        <a:t> the </a:t>
                      </a:r>
                      <a:r>
                        <a:rPr lang="de-DE" dirty="0" err="1"/>
                        <a:t>context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remains</a:t>
                      </a:r>
                      <a:r>
                        <a:rPr lang="de-DE" dirty="0"/>
                        <a:t> small)</a:t>
                      </a:r>
                    </a:p>
                    <a:p>
                      <a:endParaRPr lang="de-DE" dirty="0"/>
                    </a:p>
                    <a:p>
                      <a:r>
                        <a:rPr lang="de-DE" dirty="0"/>
                        <a:t>As the </a:t>
                      </a:r>
                      <a:r>
                        <a:rPr lang="de-DE" dirty="0" err="1"/>
                        <a:t>context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grows</a:t>
                      </a:r>
                      <a:r>
                        <a:rPr lang="de-DE" dirty="0"/>
                        <a:t>, </a:t>
                      </a:r>
                      <a:r>
                        <a:rPr lang="de-DE" dirty="0" err="1"/>
                        <a:t>this</a:t>
                      </a:r>
                      <a:r>
                        <a:rPr lang="de-DE" dirty="0"/>
                        <a:t> will </a:t>
                      </a:r>
                      <a:r>
                        <a:rPr lang="de-DE" dirty="0" err="1"/>
                        <a:t>reduce</a:t>
                      </a:r>
                      <a:r>
                        <a:rPr lang="de-DE" dirty="0"/>
                        <a:t>. </a:t>
                      </a:r>
                      <a:r>
                        <a:rPr lang="de-DE" dirty="0" err="1"/>
                        <a:t>vLLMs</a:t>
                      </a:r>
                      <a:r>
                        <a:rPr lang="de-DE" dirty="0"/>
                        <a:t> own </a:t>
                      </a:r>
                      <a:r>
                        <a:rPr lang="de-DE" dirty="0" err="1"/>
                        <a:t>estimate</a:t>
                      </a:r>
                      <a:r>
                        <a:rPr lang="de-DE" dirty="0"/>
                        <a:t>: </a:t>
                      </a:r>
                      <a:r>
                        <a:rPr lang="en-US" dirty="0"/>
                        <a:t>Maximum concurrency for 32,768 tokens per request: </a:t>
                      </a:r>
                      <a:r>
                        <a:rPr lang="en-US" b="1" dirty="0"/>
                        <a:t>6.07x</a:t>
                      </a:r>
                      <a:endParaRPr lang="de-DE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973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TTFT 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1.78 sec (at 400)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141835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r>
                        <a:rPr lang="de-DE"/>
                        <a:t>Tokens/sec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3399.9 tokens/s, Running: 400 </a:t>
                      </a:r>
                      <a:r>
                        <a:rPr lang="en-US" dirty="0" err="1"/>
                        <a:t>reqs</a:t>
                      </a:r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51 tokens/s, Running: 4 </a:t>
                      </a:r>
                      <a:r>
                        <a:rPr lang="en-US" dirty="0" err="1"/>
                        <a:t>reqs</a:t>
                      </a:r>
                      <a:endParaRPr lang="en-US" dirty="0"/>
                    </a:p>
                    <a:p>
                      <a:r>
                        <a:rPr lang="en-US" dirty="0"/>
                        <a:t>(at lower concurrency it is comparable to </a:t>
                      </a:r>
                      <a:r>
                        <a:rPr lang="en-US" dirty="0" err="1"/>
                        <a:t>ollama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137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Tokens/sec/request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-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~ 10-15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622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2852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FAA0F-F72A-370B-EDF4-3F3758BC6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Qwen3-235B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8DA629-7841-3AD4-3FBA-45AB4D87F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050356"/>
              </p:ext>
            </p:extLst>
          </p:nvPr>
        </p:nvGraphicFramePr>
        <p:xfrm>
          <a:off x="1714759" y="1932646"/>
          <a:ext cx="812799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97679269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3622321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898369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Ollama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vLLM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882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457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951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Context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length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0" dirty="0"/>
                        <a:t>40 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402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Number of parallel </a:t>
                      </a:r>
                      <a:r>
                        <a:rPr lang="de-DE" dirty="0" err="1"/>
                        <a:t>requests</a:t>
                      </a:r>
                      <a:r>
                        <a:rPr lang="de-DE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1" dirty="0"/>
                        <a:t>40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896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KV Cache </a:t>
                      </a:r>
                      <a:r>
                        <a:rPr lang="de-DE" dirty="0" err="1"/>
                        <a:t>Quantization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8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291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Tokens/sec </a:t>
                      </a:r>
                      <a:r>
                        <a:rPr lang="de-DE" dirty="0" err="1"/>
                        <a:t>batch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714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Tokens/sec/</a:t>
                      </a:r>
                      <a:r>
                        <a:rPr lang="de-DE" dirty="0" err="1"/>
                        <a:t>request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~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062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TTFT (thinking)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3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649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TTFT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50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2422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9293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276D0-9CBD-4409-53CE-D9B563177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VRAM considerations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12D9D-CA2D-4693-B152-97BAABB55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Pros:</a:t>
            </a:r>
          </a:p>
          <a:p>
            <a:r>
              <a:rPr lang="de-DE" dirty="0"/>
              <a:t>vLLM reserves memory upfront when the container is started. It tries to schedule concurrent requests using this memory budget.</a:t>
            </a:r>
          </a:p>
          <a:p>
            <a:pPr marL="0" indent="0">
              <a:buNone/>
            </a:pPr>
            <a:r>
              <a:rPr lang="de-DE" b="1" dirty="0"/>
              <a:t>Cons:</a:t>
            </a:r>
          </a:p>
          <a:p>
            <a:r>
              <a:rPr lang="de-DE" dirty="0"/>
              <a:t>vLLM only allows uniformly occupying VRAM across GPUs. So I can‘t use 25% of gpu 0,1 and 50% of gpu 2,3. </a:t>
            </a:r>
          </a:p>
          <a:p>
            <a:r>
              <a:rPr lang="de-DE" dirty="0"/>
              <a:t>vLLM also cant store a model with 64 heads across 3 GPUs. This can only be done across an even number of GPUs.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95858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2DB3D-F580-DAA8-2EFA-64201623D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Application</a:t>
            </a:r>
            <a:r>
              <a:rPr lang="de-DE" dirty="0"/>
              <a:t> </a:t>
            </a:r>
            <a:r>
              <a:rPr lang="de-DE" dirty="0" err="1"/>
              <a:t>side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17510-676B-ED0D-A060-0F056C94B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Langchain</a:t>
            </a:r>
            <a:r>
              <a:rPr lang="de-DE" dirty="0"/>
              <a:t> </a:t>
            </a:r>
            <a:r>
              <a:rPr lang="de-DE" dirty="0" err="1"/>
              <a:t>implements</a:t>
            </a:r>
            <a:r>
              <a:rPr lang="de-DE" dirty="0"/>
              <a:t> </a:t>
            </a:r>
            <a:r>
              <a:rPr lang="de-DE" dirty="0" err="1"/>
              <a:t>dedicated</a:t>
            </a:r>
            <a:r>
              <a:rPr lang="de-DE" dirty="0"/>
              <a:t> </a:t>
            </a:r>
            <a:r>
              <a:rPr lang="de-DE" dirty="0" err="1"/>
              <a:t>Ollama</a:t>
            </a:r>
            <a:r>
              <a:rPr lang="de-DE" dirty="0"/>
              <a:t> Client - </a:t>
            </a:r>
            <a:r>
              <a:rPr lang="de-DE" dirty="0" err="1"/>
              <a:t>excellent</a:t>
            </a:r>
            <a:r>
              <a:rPr lang="de-DE" dirty="0"/>
              <a:t> for </a:t>
            </a:r>
            <a:r>
              <a:rPr lang="de-DE" dirty="0" err="1"/>
              <a:t>dev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/>
              <a:t>   </a:t>
            </a:r>
            <a:r>
              <a:rPr lang="de-DE" dirty="0" err="1"/>
              <a:t>vLLM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langchains</a:t>
            </a:r>
            <a:r>
              <a:rPr lang="de-DE" dirty="0"/>
              <a:t> OpenAI Client and DeepSeek </a:t>
            </a:r>
            <a:r>
              <a:rPr lang="de-DE" dirty="0" err="1"/>
              <a:t>client</a:t>
            </a:r>
            <a:r>
              <a:rPr lang="de-DE" dirty="0"/>
              <a:t>. The Open AI Client </a:t>
            </a:r>
            <a:r>
              <a:rPr lang="de-DE" dirty="0" err="1"/>
              <a:t>drops</a:t>
            </a:r>
            <a:r>
              <a:rPr lang="de-DE" dirty="0"/>
              <a:t> the </a:t>
            </a:r>
            <a:r>
              <a:rPr lang="de-DE" dirty="0" err="1"/>
              <a:t>reasoning</a:t>
            </a:r>
            <a:r>
              <a:rPr lang="de-DE" dirty="0"/>
              <a:t> </a:t>
            </a:r>
            <a:r>
              <a:rPr lang="de-DE" dirty="0" err="1"/>
              <a:t>content</a:t>
            </a:r>
            <a:r>
              <a:rPr lang="de-DE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57594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608</Words>
  <Application>Microsoft Office PowerPoint</Application>
  <PresentationFormat>Widescreen</PresentationFormat>
  <Paragraphs>114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Ollama vs vLLM report</vt:lpstr>
      <vt:lpstr>Container settings </vt:lpstr>
      <vt:lpstr>Container settings </vt:lpstr>
      <vt:lpstr>Deepseek-r1-0528:q4_k_m </vt:lpstr>
      <vt:lpstr>Deepseek-r1-0528:q4_k_m </vt:lpstr>
      <vt:lpstr>Qwen3-235B</vt:lpstr>
      <vt:lpstr>VRAM considerations</vt:lpstr>
      <vt:lpstr>Application side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RAO Rohil Prakash (External)</dc:creator>
  <cp:lastModifiedBy>Rohil Rao</cp:lastModifiedBy>
  <cp:revision>14</cp:revision>
  <dcterms:created xsi:type="dcterms:W3CDTF">2026-08-24T05:55:31Z</dcterms:created>
  <dcterms:modified xsi:type="dcterms:W3CDTF">2026-09-10T07:51:02Z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77b993a-7622-4ca9-b18f-a1c017beb90f_Enabled">
    <vt:lpwstr>true</vt:lpwstr>
  </property>
  <property fmtid="{D5CDD505-2E9C-101B-9397-08002B2CF9AE}" pid="3" name="MSIP_Label_d77b993a-7622-4ca9-b18f-a1c017beb90f_SetDate">
    <vt:lpwstr>2026-08-24T05:56:31Z</vt:lpwstr>
  </property>
  <property fmtid="{D5CDD505-2E9C-101B-9397-08002B2CF9AE}" pid="4" name="MSIP_Label_d77b993a-7622-4ca9-b18f-a1c017beb90f_Method">
    <vt:lpwstr>Standard</vt:lpwstr>
  </property>
  <property fmtid="{D5CDD505-2E9C-101B-9397-08002B2CF9AE}" pid="5" name="MSIP_Label_d77b993a-7622-4ca9-b18f-a1c017beb90f_Name">
    <vt:lpwstr>C1-No marking</vt:lpwstr>
  </property>
  <property fmtid="{D5CDD505-2E9C-101B-9397-08002B2CF9AE}" pid="6" name="MSIP_Label_d77b993a-7622-4ca9-b18f-a1c017beb90f_SiteId">
    <vt:lpwstr>152f9b3b-87f6-4551-b359-dc2527d190be</vt:lpwstr>
  </property>
  <property fmtid="{D5CDD505-2E9C-101B-9397-08002B2CF9AE}" pid="7" name="MSIP_Label_d77b993a-7622-4ca9-b18f-a1c017beb90f_ActionId">
    <vt:lpwstr>55cc90e3-8e5e-48f8-a2f9-7fd224ae4924</vt:lpwstr>
  </property>
  <property fmtid="{D5CDD505-2E9C-101B-9397-08002B2CF9AE}" pid="8" name="MSIP_Label_d77b993a-7622-4ca9-b18f-a1c017beb90f_ContentBits">
    <vt:lpwstr>0</vt:lpwstr>
  </property>
  <property fmtid="{D5CDD505-2E9C-101B-9397-08002B2CF9AE}" pid="9" name="MSIP_Label_d77b993a-7622-4ca9-b18f-a1c017beb90f_Tag">
    <vt:lpwstr>10, 3, 0, 1</vt:lpwstr>
  </property>
</Properties>
</file>