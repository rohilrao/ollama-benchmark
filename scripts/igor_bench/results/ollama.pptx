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9" r:id="rId4"/>
    <p:sldId id="262" r:id="rId5"/>
    <p:sldId id="272" r:id="rId6"/>
    <p:sldId id="273" r:id="rId7"/>
    <p:sldId id="264" r:id="rId8"/>
    <p:sldId id="274" r:id="rId9"/>
    <p:sldId id="271" r:id="rId10"/>
    <p:sldId id="260" r:id="rId11"/>
    <p:sldId id="263" r:id="rId12"/>
    <p:sldId id="268" r:id="rId13"/>
    <p:sldId id="257" r:id="rId14"/>
    <p:sldId id="258" r:id="rId15"/>
    <p:sldId id="259" r:id="rId16"/>
    <p:sldId id="261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A2B5-46BE-F9DF-179D-E3C0C7DDC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10BF7-F686-BAE8-7DA0-DDCC4B42D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58C7-13DB-D29A-0600-0690021A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6FA74-4452-EBA1-0DD5-AA193127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F0821-BD8C-DA0B-65F2-036A5FEB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70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3506-D06B-A8B9-E632-0F7D3E9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2E53-5874-5DEC-C321-66FD7393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61A6F-D7F0-BA38-D2FA-74CDD24C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D13C8-2F23-9392-FDF3-F349A0BC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9ED-BC5F-E9E8-EE83-771A9DB4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710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D131F-DBF4-5290-8315-DBF8DEE8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A9566-6FF9-D867-584E-260BD3A70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8F23D-D2AF-8B9A-334D-6C8C8155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6D0E1-F4F8-9E0D-E582-E82E6098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EACE6-3AEA-4354-53D3-31A1E0DE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00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ABC2-6C41-3F73-E3E2-1A882413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5E40D-5612-B832-A147-660098D1A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7DB38-E810-8986-1EF5-A9D08E951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12978-FB79-382E-1078-1304457F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77666-289C-C5EB-75AE-8EDDB7CF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730C6-63BC-820A-5C83-6343B7FA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11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3DB1-619F-85DA-9693-B4CB2E6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06FC1-1D63-17AB-5B17-F61CC2F13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732AB-8F29-5F7E-8E33-C40661FB3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D0C98-A142-DA4E-E165-AD94E4864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E3008-3BBF-FEDB-3898-ACBB13704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D9ED9-48DB-7514-2FC0-C69B2ADB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6955A-CAC9-C8E3-2F06-B0307257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EABD1-52BD-A92A-7B08-079E54F2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85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0490-CC3B-FAAC-0477-1A7CAF8B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916E2-D372-B498-ED54-58F64452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25E1B-1055-CAC9-A4EE-89A66549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E29EE-4679-EFA3-2843-465896A3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085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3C411-790D-28E0-E97E-1AD29F97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42DF8-8343-4192-AFB1-42EE705E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EF12B-2BE3-A25B-B346-A5408CA5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986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AAA0-2957-2887-D7BD-9C8C7995F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A1BD-25F7-D252-A419-96729A76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0C7A6-C5C1-BD15-E9E8-6CBCC428E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5C5FA-AFA4-63AC-ED01-F2D55A87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6D191-CC5C-03BB-7A9D-A097B44A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30B3E-E561-0F19-D2F2-60EAA3F2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860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D9D8-0F8F-BE57-7494-6463F5C5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5A2FD-DB94-CABB-5036-E97525570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E440C-D30E-88D2-F13B-12DC7775E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B89CA-CECC-442F-2C9E-10239A1F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06991-79D6-39F1-EB1A-4F189CE7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0B163-4086-937D-D70E-004D588D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5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6546-54A8-E64D-E179-3053D037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A5246-2166-99E4-4973-A40FE9789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6A03-0EB7-B03B-929B-F9B0102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7BB93-2833-A37D-3B17-E573C0FB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B6E7F-9D78-B8B6-26DC-E2B2A319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6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F4F69-9389-8228-3963-4A7FFD788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C684C-7621-65F8-9D6E-AFBC89471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8B27E-4FFD-3B65-670E-47D8BF491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46EAF-204C-CB78-6BA7-4E08C739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89F09-750D-DD18-1485-CAD1591C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31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BBC9F-80E9-9B6A-8856-15661824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09726-F192-3970-B2DD-A94B7F0A9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280D8-C7B1-835F-861C-A3A91E61D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D5127-B0FA-4A16-8807-7F8BBFC77DF0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36FD3-B40B-BF9E-E347-EB6FDA774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FDA17-6DF5-D499-5871-176FFE87D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B4061-1CCC-4EE3-B026-0DC9FB6DA1C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19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llama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EF693F-5746-3E9B-8518-838D6F4AC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57" y="1297050"/>
            <a:ext cx="7064352" cy="3574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8EDB01-1E53-F723-53EF-BF4166F15054}"/>
              </a:ext>
            </a:extLst>
          </p:cNvPr>
          <p:cNvSpPr txBox="1"/>
          <p:nvPr/>
        </p:nvSpPr>
        <p:spPr>
          <a:xfrm>
            <a:off x="477252" y="1278647"/>
            <a:ext cx="39503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Server Setup: </a:t>
            </a:r>
          </a:p>
          <a:p>
            <a:pPr marL="742950" lvl="1" indent="-285750">
              <a:buFontTx/>
              <a:buChar char="-"/>
            </a:pPr>
            <a:r>
              <a:rPr lang="de-DE" dirty="0"/>
              <a:t>4 NVIDIA H200s (143gb VRAM)</a:t>
            </a:r>
          </a:p>
          <a:p>
            <a:pPr marL="742950" lvl="1" indent="-285750">
              <a:buFontTx/>
              <a:buChar char="-"/>
            </a:pPr>
            <a:r>
              <a:rPr lang="de-DE" dirty="0"/>
              <a:t>Total VRAM: 143 * 4 = 572 </a:t>
            </a:r>
            <a:r>
              <a:rPr lang="de-DE" dirty="0" err="1"/>
              <a:t>gb</a:t>
            </a:r>
            <a:endParaRPr lang="de-DE" dirty="0"/>
          </a:p>
          <a:p>
            <a:pPr lvl="1"/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Our</a:t>
            </a:r>
            <a:r>
              <a:rPr lang="de-DE" b="1" dirty="0"/>
              <a:t> </a:t>
            </a:r>
            <a:r>
              <a:rPr lang="de-DE" b="1" dirty="0" err="1"/>
              <a:t>goals</a:t>
            </a:r>
            <a:r>
              <a:rPr lang="de-DE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Run </a:t>
            </a:r>
            <a:r>
              <a:rPr lang="de-DE" dirty="0" err="1"/>
              <a:t>agents</a:t>
            </a:r>
            <a:r>
              <a:rPr lang="de-DE" dirty="0"/>
              <a:t> in parallel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Serve</a:t>
            </a:r>
            <a:r>
              <a:rPr lang="de-DE" dirty="0"/>
              <a:t> multiple </a:t>
            </a:r>
            <a:r>
              <a:rPr lang="de-DE" dirty="0" err="1"/>
              <a:t>users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Optimize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utilisation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9FE73-736B-A199-D2E0-8328B766BD6A}"/>
              </a:ext>
            </a:extLst>
          </p:cNvPr>
          <p:cNvSpPr txBox="1"/>
          <p:nvPr/>
        </p:nvSpPr>
        <p:spPr>
          <a:xfrm>
            <a:off x="5462337" y="4971966"/>
            <a:ext cx="625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Screenshot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requests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51D76-4D3C-B79C-9E2B-DCF874EE296E}"/>
              </a:ext>
            </a:extLst>
          </p:cNvPr>
          <p:cNvSpPr txBox="1"/>
          <p:nvPr/>
        </p:nvSpPr>
        <p:spPr>
          <a:xfrm>
            <a:off x="477252" y="373542"/>
            <a:ext cx="880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LLM Model </a:t>
            </a:r>
            <a:r>
              <a:rPr lang="de-DE" sz="3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Serving</a:t>
            </a:r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908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1DC1-189F-34C6-A31F-072CB462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Testing</a:t>
            </a:r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3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the</a:t>
            </a:r>
            <a:r>
              <a:rPr lang="de-DE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3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limits</a:t>
            </a:r>
            <a:endParaRPr lang="de-DE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DA306-81BA-E0D1-7EFC-7079A030F82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592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 of parallel requests: N (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upto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40)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 of repetitions per request: M =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 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 for each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 run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repetitions with the same prompt to get statistics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Prompt: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"Give me a sentence with each letter used at least and at most once:",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Mistral Small 3.2-24b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26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987A-3096-8586-438B-2A08FD8D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b="1" dirty="0" err="1"/>
              <a:t>Factors</a:t>
            </a:r>
            <a:r>
              <a:rPr lang="de-DE" sz="3200" b="1" dirty="0"/>
              <a:t> </a:t>
            </a:r>
            <a:r>
              <a:rPr lang="de-DE" sz="3200" b="1" dirty="0" err="1"/>
              <a:t>considered</a:t>
            </a:r>
            <a:r>
              <a:rPr lang="de-DE" sz="3200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76075-ECE9-751A-1368-CFB35987C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147"/>
            <a:ext cx="10515600" cy="4596816"/>
          </a:xfrm>
        </p:spPr>
        <p:txBody>
          <a:bodyPr/>
          <a:lstStyle/>
          <a:p>
            <a:r>
              <a:rPr lang="de-DE" sz="2200" dirty="0" err="1"/>
              <a:t>Context</a:t>
            </a:r>
            <a:r>
              <a:rPr lang="de-DE" sz="2200" dirty="0"/>
              <a:t> </a:t>
            </a:r>
            <a:r>
              <a:rPr lang="de-DE" sz="2200" dirty="0" err="1"/>
              <a:t>size</a:t>
            </a:r>
            <a:endParaRPr lang="de-DE" sz="2200" dirty="0"/>
          </a:p>
          <a:p>
            <a:r>
              <a:rPr lang="de-DE" sz="2200" dirty="0" err="1"/>
              <a:t>Number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parallel </a:t>
            </a:r>
            <a:r>
              <a:rPr lang="de-DE" sz="2200" dirty="0" err="1"/>
              <a:t>requests</a:t>
            </a:r>
            <a:r>
              <a:rPr lang="de-DE" sz="2200" dirty="0"/>
              <a:t>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E87A20-A63A-C7E9-11D5-6024E7391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72215"/>
            <a:ext cx="8718035" cy="2347163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8BDB5C-8262-E27E-EF4E-17E9EF742690}"/>
              </a:ext>
            </a:extLst>
          </p:cNvPr>
          <p:cNvSpPr txBox="1"/>
          <p:nvPr/>
        </p:nvSpPr>
        <p:spPr>
          <a:xfrm>
            <a:off x="906378" y="60868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hlinkClick r:id="rId3"/>
              </a:rPr>
              <a:t>Source: https://docs.ollama.com/</a:t>
            </a:r>
            <a:endParaRPr lang="de-DE" sz="1400" dirty="0"/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02913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3ECD23-25A0-18FC-EEA3-3219D849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65" y="1226820"/>
            <a:ext cx="7386638" cy="5372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3AB0FE-6DB0-4D95-DDF0-6372E0D352C3}"/>
              </a:ext>
            </a:extLst>
          </p:cNvPr>
          <p:cNvSpPr txBox="1"/>
          <p:nvPr/>
        </p:nvSpPr>
        <p:spPr>
          <a:xfrm>
            <a:off x="8654180" y="1739325"/>
            <a:ext cx="33447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OLLAMA Container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parallel </a:t>
            </a:r>
            <a:r>
              <a:rPr lang="de-DE" dirty="0" err="1"/>
              <a:t>requests</a:t>
            </a:r>
            <a:r>
              <a:rPr lang="de-DE" dirty="0"/>
              <a:t> = 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From</a:t>
            </a:r>
            <a:r>
              <a:rPr lang="de-DE" dirty="0"/>
              <a:t> a UX </a:t>
            </a:r>
            <a:r>
              <a:rPr lang="de-DE" dirty="0" err="1"/>
              <a:t>persepective</a:t>
            </a:r>
            <a:r>
              <a:rPr lang="de-DE" dirty="0"/>
              <a:t>: </a:t>
            </a:r>
            <a:r>
              <a:rPr lang="de-DE" dirty="0" err="1"/>
              <a:t>even</a:t>
            </a:r>
            <a:r>
              <a:rPr lang="de-DE" dirty="0"/>
              <a:t> at 20 parallel </a:t>
            </a:r>
            <a:r>
              <a:rPr lang="de-DE" dirty="0" err="1"/>
              <a:t>requests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getting</a:t>
            </a:r>
            <a:r>
              <a:rPr lang="de-DE" dirty="0"/>
              <a:t> 4-5 </a:t>
            </a:r>
            <a:r>
              <a:rPr lang="de-DE" dirty="0" err="1"/>
              <a:t>tokens</a:t>
            </a:r>
            <a:r>
              <a:rPr lang="de-DE" dirty="0"/>
              <a:t> </a:t>
            </a:r>
            <a:r>
              <a:rPr lang="de-DE" dirty="0" err="1"/>
              <a:t>streamed</a:t>
            </a:r>
            <a:r>
              <a:rPr lang="de-DE" dirty="0"/>
              <a:t> per </a:t>
            </a:r>
            <a:r>
              <a:rPr lang="de-DE" dirty="0" err="1"/>
              <a:t>request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Interestingly</a:t>
            </a:r>
            <a:r>
              <a:rPr lang="de-DE" dirty="0"/>
              <a:t> </a:t>
            </a:r>
            <a:r>
              <a:rPr lang="de-DE" dirty="0" err="1"/>
              <a:t>batch</a:t>
            </a:r>
            <a:r>
              <a:rPr lang="de-DE" dirty="0"/>
              <a:t> </a:t>
            </a:r>
            <a:r>
              <a:rPr lang="de-DE" dirty="0" err="1"/>
              <a:t>tokens</a:t>
            </a:r>
            <a:r>
              <a:rPr lang="de-DE" dirty="0"/>
              <a:t>/sec 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parallel </a:t>
            </a:r>
            <a:r>
              <a:rPr lang="de-DE" dirty="0" err="1"/>
              <a:t>requests</a:t>
            </a:r>
            <a:r>
              <a:rPr lang="de-DE" dirty="0"/>
              <a:t> and </a:t>
            </a:r>
            <a:r>
              <a:rPr lang="de-DE" dirty="0" err="1"/>
              <a:t>plateaus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377942-7908-08E7-82F6-8F757092614F}"/>
              </a:ext>
            </a:extLst>
          </p:cNvPr>
          <p:cNvSpPr txBox="1"/>
          <p:nvPr/>
        </p:nvSpPr>
        <p:spPr>
          <a:xfrm>
            <a:off x="741680" y="213360"/>
            <a:ext cx="6725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/>
              <a:t>Latency</a:t>
            </a:r>
            <a:r>
              <a:rPr lang="de-DE" sz="3200" dirty="0"/>
              <a:t> benchmark</a:t>
            </a:r>
          </a:p>
        </p:txBody>
      </p:sp>
    </p:spTree>
    <p:extLst>
      <p:ext uri="{BB962C8B-B14F-4D97-AF65-F5344CB8AC3E}">
        <p14:creationId xmlns:p14="http://schemas.microsoft.com/office/powerpoint/2010/main" val="352100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0F79-B1FD-7DDF-EFEE-62D365F7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391650" cy="730250"/>
          </a:xfrm>
        </p:spPr>
        <p:txBody>
          <a:bodyPr/>
          <a:lstStyle/>
          <a:p>
            <a:r>
              <a:rPr lang="de-DE" dirty="0"/>
              <a:t>VRAM benchmark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D11EE-958B-EF63-8D11-CA8EBF4C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" t="34380" r="-180" b="32467"/>
          <a:stretch/>
        </p:blipFill>
        <p:spPr>
          <a:xfrm>
            <a:off x="1247774" y="1282656"/>
            <a:ext cx="8496301" cy="3520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BF9B7-971F-F0BA-446B-1DF104AF55E1}"/>
              </a:ext>
            </a:extLst>
          </p:cNvPr>
          <p:cNvSpPr txBox="1"/>
          <p:nvPr/>
        </p:nvSpPr>
        <p:spPr>
          <a:xfrm>
            <a:off x="428625" y="5241925"/>
            <a:ext cx="11496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Container </a:t>
            </a:r>
            <a:r>
              <a:rPr lang="de-DE" dirty="0" err="1"/>
              <a:t>can</a:t>
            </a:r>
            <a:r>
              <a:rPr lang="de-DE" dirty="0"/>
              <a:t> support </a:t>
            </a:r>
            <a:r>
              <a:rPr lang="de-DE" b="1" dirty="0" err="1"/>
              <a:t>upto</a:t>
            </a:r>
            <a:r>
              <a:rPr lang="de-DE" dirty="0"/>
              <a:t> N=20 </a:t>
            </a:r>
            <a:r>
              <a:rPr lang="de-DE" dirty="0" err="1"/>
              <a:t>requests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VRAM </a:t>
            </a:r>
            <a:r>
              <a:rPr lang="de-DE" dirty="0" err="1"/>
              <a:t>scales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500 </a:t>
            </a:r>
            <a:r>
              <a:rPr lang="de-DE" dirty="0" err="1"/>
              <a:t>gb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N=1 </a:t>
            </a:r>
            <a:r>
              <a:rPr lang="de-DE" dirty="0" err="1"/>
              <a:t>requests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N=20 parallel </a:t>
            </a:r>
            <a:r>
              <a:rPr lang="de-DE" dirty="0" err="1"/>
              <a:t>requests</a:t>
            </a:r>
            <a:r>
              <a:rPr lang="de-DE" dirty="0"/>
              <a:t> –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allocates</a:t>
            </a:r>
            <a:r>
              <a:rPr lang="de-DE" dirty="0"/>
              <a:t> </a:t>
            </a:r>
            <a:r>
              <a:rPr lang="de-DE" dirty="0" err="1"/>
              <a:t>vram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handle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requests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080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CFCF1D-B511-A86D-1176-95E379B6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760"/>
          <a:stretch/>
        </p:blipFill>
        <p:spPr>
          <a:xfrm>
            <a:off x="520367" y="1119125"/>
            <a:ext cx="8553450" cy="3789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913181-33ED-4355-3B31-0543B3BAA68A}"/>
              </a:ext>
            </a:extLst>
          </p:cNvPr>
          <p:cNvSpPr txBox="1"/>
          <p:nvPr/>
        </p:nvSpPr>
        <p:spPr>
          <a:xfrm>
            <a:off x="529389" y="4997116"/>
            <a:ext cx="11133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Configured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8K (</a:t>
            </a:r>
            <a:r>
              <a:rPr lang="de-DE" dirty="0" err="1"/>
              <a:t>left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32K (</a:t>
            </a:r>
            <a:r>
              <a:rPr lang="de-DE" dirty="0" err="1"/>
              <a:t>right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VRAM </a:t>
            </a:r>
            <a:r>
              <a:rPr lang="de-DE" dirty="0" err="1"/>
              <a:t>allocated</a:t>
            </a:r>
            <a:r>
              <a:rPr lang="de-DE" dirty="0"/>
              <a:t> </a:t>
            </a:r>
            <a:r>
              <a:rPr lang="de-DE" dirty="0" err="1"/>
              <a:t>varies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80gb (</a:t>
            </a:r>
            <a:r>
              <a:rPr lang="de-DE" dirty="0" err="1"/>
              <a:t>left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500gb (</a:t>
            </a:r>
            <a:r>
              <a:rPr lang="de-DE" dirty="0" err="1"/>
              <a:t>right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VRAM </a:t>
            </a:r>
            <a:r>
              <a:rPr lang="de-DE" dirty="0" err="1"/>
              <a:t>allocated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vary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concurrent</a:t>
            </a:r>
            <a:r>
              <a:rPr lang="de-DE" dirty="0"/>
              <a:t> </a:t>
            </a:r>
            <a:r>
              <a:rPr lang="de-DE" dirty="0" err="1"/>
              <a:t>requests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made</a:t>
            </a:r>
            <a:r>
              <a:rPr lang="de-DE" dirty="0"/>
              <a:t>. </a:t>
            </a:r>
            <a:r>
              <a:rPr lang="de-DE" dirty="0" err="1"/>
              <a:t>Whether</a:t>
            </a:r>
            <a:r>
              <a:rPr lang="de-DE" dirty="0"/>
              <a:t> N=1 </a:t>
            </a:r>
            <a:r>
              <a:rPr lang="de-DE" dirty="0" err="1"/>
              <a:t>or</a:t>
            </a:r>
            <a:r>
              <a:rPr lang="de-DE" dirty="0"/>
              <a:t> N=20</a:t>
            </a:r>
          </a:p>
        </p:txBody>
      </p:sp>
    </p:spTree>
    <p:extLst>
      <p:ext uri="{BB962C8B-B14F-4D97-AF65-F5344CB8AC3E}">
        <p14:creationId xmlns:p14="http://schemas.microsoft.com/office/powerpoint/2010/main" val="236477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BE65E4-7022-B29F-8260-435E339D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25015"/>
            <a:ext cx="5286375" cy="6607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9AA0CA-2569-B69D-B53A-9381E1980ACC}"/>
              </a:ext>
            </a:extLst>
          </p:cNvPr>
          <p:cNvSpPr txBox="1"/>
          <p:nvPr/>
        </p:nvSpPr>
        <p:spPr>
          <a:xfrm>
            <a:off x="7000875" y="352425"/>
            <a:ext cx="4429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num_ctx</a:t>
            </a:r>
            <a:r>
              <a:rPr lang="de-DE" dirty="0"/>
              <a:t> (</a:t>
            </a:r>
            <a:r>
              <a:rPr lang="de-DE" dirty="0" err="1"/>
              <a:t>contxt</a:t>
            </a:r>
            <a:r>
              <a:rPr lang="de-DE" dirty="0"/>
              <a:t> </a:t>
            </a:r>
            <a:r>
              <a:rPr lang="de-DE" dirty="0" err="1"/>
              <a:t>len</a:t>
            </a:r>
            <a:r>
              <a:rPr lang="de-DE" dirty="0"/>
              <a:t>)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and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plots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VRAM </a:t>
            </a:r>
            <a:r>
              <a:rPr lang="de-DE" dirty="0" err="1"/>
              <a:t>doesnt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concurrent</a:t>
            </a:r>
            <a:r>
              <a:rPr lang="de-DE" dirty="0"/>
              <a:t> </a:t>
            </a:r>
            <a:r>
              <a:rPr lang="de-DE" dirty="0" err="1"/>
              <a:t>reqs</a:t>
            </a:r>
            <a:r>
              <a:rPr lang="de-DE" dirty="0"/>
              <a:t>.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Prompt </a:t>
            </a:r>
            <a:r>
              <a:rPr lang="de-DE" dirty="0" err="1"/>
              <a:t>length</a:t>
            </a:r>
            <a:r>
              <a:rPr lang="de-DE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 But </a:t>
            </a:r>
            <a:r>
              <a:rPr lang="de-DE" dirty="0" err="1"/>
              <a:t>the</a:t>
            </a:r>
            <a:r>
              <a:rPr lang="de-DE" dirty="0"/>
              <a:t> Y-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changed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80gb </a:t>
            </a:r>
            <a:r>
              <a:rPr lang="de-DE" dirty="0" err="1"/>
              <a:t>to</a:t>
            </a:r>
            <a:r>
              <a:rPr lang="de-DE" dirty="0"/>
              <a:t> 500gb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</a:t>
            </a:r>
            <a:r>
              <a:rPr lang="de-DE" dirty="0"/>
              <a:t> was </a:t>
            </a:r>
            <a:r>
              <a:rPr lang="de-DE" dirty="0" err="1"/>
              <a:t>changed</a:t>
            </a:r>
            <a:r>
              <a:rPr lang="de-DE" dirty="0"/>
              <a:t>. 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allocates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handle N=</a:t>
            </a:r>
            <a:r>
              <a:rPr lang="de-DE" dirty="0" err="1"/>
              <a:t>max</a:t>
            </a:r>
            <a:r>
              <a:rPr lang="de-DE" dirty="0"/>
              <a:t> possible </a:t>
            </a:r>
            <a:r>
              <a:rPr lang="de-DE" dirty="0" err="1"/>
              <a:t>concurrent</a:t>
            </a:r>
            <a:r>
              <a:rPr lang="de-DE" dirty="0"/>
              <a:t> </a:t>
            </a:r>
            <a:r>
              <a:rPr lang="de-DE" dirty="0" err="1"/>
              <a:t>req</a:t>
            </a:r>
            <a:r>
              <a:rPr lang="de-DE" dirty="0"/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3A355D-508F-314B-7FDB-460D50A7620F}"/>
              </a:ext>
            </a:extLst>
          </p:cNvPr>
          <p:cNvCxnSpPr/>
          <p:nvPr/>
        </p:nvCxnSpPr>
        <p:spPr>
          <a:xfrm flipV="1">
            <a:off x="6257925" y="1381125"/>
            <a:ext cx="742950" cy="257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36E047-04DB-AAFC-4BA3-791018DD2A88}"/>
              </a:ext>
            </a:extLst>
          </p:cNvPr>
          <p:cNvCxnSpPr/>
          <p:nvPr/>
        </p:nvCxnSpPr>
        <p:spPr>
          <a:xfrm flipV="1">
            <a:off x="6257925" y="1381125"/>
            <a:ext cx="742950" cy="4017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B4154A-C95A-D3A6-337C-935257C02A04}"/>
              </a:ext>
            </a:extLst>
          </p:cNvPr>
          <p:cNvCxnSpPr>
            <a:stCxn id="7" idx="3"/>
          </p:cNvCxnSpPr>
          <p:nvPr/>
        </p:nvCxnSpPr>
        <p:spPr>
          <a:xfrm>
            <a:off x="6257925" y="3429000"/>
            <a:ext cx="1137486" cy="1335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D41FB3F-9AD8-80CB-8C79-B9CBC53888F6}"/>
              </a:ext>
            </a:extLst>
          </p:cNvPr>
          <p:cNvSpPr txBox="1"/>
          <p:nvPr/>
        </p:nvSpPr>
        <p:spPr>
          <a:xfrm>
            <a:off x="7275095" y="3686175"/>
            <a:ext cx="3858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Vram</a:t>
            </a:r>
            <a:r>
              <a:rPr lang="de-DE" dirty="0"/>
              <a:t> </a:t>
            </a:r>
            <a:r>
              <a:rPr lang="de-DE" dirty="0" err="1"/>
              <a:t>reserved</a:t>
            </a:r>
            <a:r>
              <a:rPr lang="de-DE" dirty="0"/>
              <a:t>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num_ctx</a:t>
            </a:r>
            <a:r>
              <a:rPr lang="de-DE" dirty="0"/>
              <a:t>. So </a:t>
            </a:r>
            <a:r>
              <a:rPr lang="de-DE" dirty="0" err="1"/>
              <a:t>whether</a:t>
            </a:r>
            <a:r>
              <a:rPr lang="de-DE" dirty="0"/>
              <a:t> N=1 </a:t>
            </a:r>
            <a:r>
              <a:rPr lang="de-DE" dirty="0" err="1"/>
              <a:t>or</a:t>
            </a:r>
            <a:r>
              <a:rPr lang="de-DE" dirty="0"/>
              <a:t> N=20,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. </a:t>
            </a:r>
          </a:p>
          <a:p>
            <a:r>
              <a:rPr lang="de-DE" dirty="0"/>
              <a:t>     The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container</a:t>
            </a:r>
            <a:r>
              <a:rPr lang="de-DE" dirty="0"/>
              <a:t> was </a:t>
            </a:r>
            <a:r>
              <a:rPr lang="de-DE" dirty="0" err="1"/>
              <a:t>initialized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serve</a:t>
            </a:r>
            <a:r>
              <a:rPr lang="de-DE" dirty="0"/>
              <a:t> </a:t>
            </a:r>
            <a:r>
              <a:rPr lang="de-DE" dirty="0" err="1"/>
              <a:t>upto</a:t>
            </a:r>
            <a:r>
              <a:rPr lang="de-DE" dirty="0"/>
              <a:t> 36 </a:t>
            </a:r>
            <a:r>
              <a:rPr lang="de-DE" dirty="0" err="1"/>
              <a:t>requests</a:t>
            </a:r>
            <a:r>
              <a:rPr lang="de-DE" dirty="0"/>
              <a:t> per </a:t>
            </a:r>
            <a:r>
              <a:rPr lang="de-DE" dirty="0" err="1"/>
              <a:t>request</a:t>
            </a:r>
            <a:r>
              <a:rPr lang="de-DE" dirty="0"/>
              <a:t>. And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allocates</a:t>
            </a:r>
            <a:r>
              <a:rPr lang="de-DE" dirty="0"/>
              <a:t> </a:t>
            </a:r>
            <a:r>
              <a:rPr lang="de-DE" dirty="0" err="1"/>
              <a:t>enough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handle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conditioned</a:t>
            </a:r>
            <a:r>
              <a:rPr lang="de-DE" dirty="0"/>
              <a:t> on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123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9735-9D4C-59D8-D479-86481B58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Challenges </a:t>
            </a:r>
            <a:r>
              <a:rPr lang="de-DE" sz="2800" dirty="0" err="1"/>
              <a:t>along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way</a:t>
            </a:r>
            <a:endParaRPr lang="de-D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4450E-4F6E-83EB-B8AC-51781F102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Transferring </a:t>
            </a:r>
            <a:r>
              <a:rPr lang="de-DE" sz="2000" dirty="0" err="1"/>
              <a:t>huge</a:t>
            </a:r>
            <a:r>
              <a:rPr lang="de-DE" sz="2000" dirty="0"/>
              <a:t> </a:t>
            </a:r>
            <a:r>
              <a:rPr lang="de-DE" sz="2000" dirty="0" err="1"/>
              <a:t>models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air-gapped</a:t>
            </a:r>
            <a:r>
              <a:rPr lang="de-DE" sz="2000" dirty="0"/>
              <a:t> </a:t>
            </a:r>
            <a:r>
              <a:rPr lang="de-DE" sz="2000" dirty="0" err="1"/>
              <a:t>server</a:t>
            </a:r>
            <a:r>
              <a:rPr lang="de-DE" sz="2000" dirty="0"/>
              <a:t> : )</a:t>
            </a:r>
          </a:p>
          <a:p>
            <a:endParaRPr lang="de-DE" sz="2000" dirty="0"/>
          </a:p>
          <a:p>
            <a:r>
              <a:rPr lang="de-DE" sz="2000" dirty="0" err="1"/>
              <a:t>Ollama</a:t>
            </a:r>
            <a:r>
              <a:rPr lang="de-DE" sz="2000" dirty="0"/>
              <a:t> </a:t>
            </a:r>
            <a:r>
              <a:rPr lang="de-DE" sz="2000" dirty="0" err="1"/>
              <a:t>updates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support: </a:t>
            </a:r>
          </a:p>
          <a:p>
            <a:pPr lvl="1"/>
            <a:r>
              <a:rPr lang="de-DE" sz="1600" dirty="0" err="1"/>
              <a:t>Various</a:t>
            </a:r>
            <a:r>
              <a:rPr lang="de-DE" sz="1600" dirty="0"/>
              <a:t> </a:t>
            </a:r>
            <a:r>
              <a:rPr lang="de-DE" sz="1600" dirty="0" err="1"/>
              <a:t>model</a:t>
            </a:r>
            <a:r>
              <a:rPr lang="de-DE" sz="1600" dirty="0"/>
              <a:t> </a:t>
            </a:r>
            <a:r>
              <a:rPr lang="de-DE" sz="1600" dirty="0" err="1"/>
              <a:t>architectures</a:t>
            </a:r>
            <a:endParaRPr lang="de-DE" sz="1600" dirty="0"/>
          </a:p>
          <a:p>
            <a:pPr lvl="1"/>
            <a:r>
              <a:rPr lang="de-DE" sz="1600" dirty="0"/>
              <a:t>Tool </a:t>
            </a:r>
            <a:r>
              <a:rPr lang="de-DE" sz="1600" dirty="0" err="1"/>
              <a:t>calls</a:t>
            </a:r>
            <a:r>
              <a:rPr lang="de-DE" sz="1600" dirty="0"/>
              <a:t>  </a:t>
            </a:r>
          </a:p>
          <a:p>
            <a:pPr lvl="1"/>
            <a:endParaRPr lang="de-DE" sz="1600" dirty="0"/>
          </a:p>
          <a:p>
            <a:r>
              <a:rPr lang="de-DE" sz="2000" dirty="0"/>
              <a:t>Model </a:t>
            </a:r>
            <a:r>
              <a:rPr lang="de-DE" sz="2000" dirty="0" err="1"/>
              <a:t>setup</a:t>
            </a:r>
            <a:r>
              <a:rPr lang="de-DE" sz="2000" dirty="0"/>
              <a:t> </a:t>
            </a:r>
            <a:r>
              <a:rPr lang="de-DE" sz="2000" dirty="0" err="1"/>
              <a:t>requires</a:t>
            </a:r>
            <a:r>
              <a:rPr lang="de-DE" sz="2000" dirty="0"/>
              <a:t> a </a:t>
            </a:r>
            <a:r>
              <a:rPr lang="de-DE" sz="2000" dirty="0" err="1"/>
              <a:t>variety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factors</a:t>
            </a:r>
            <a:r>
              <a:rPr lang="de-DE" sz="2000" dirty="0"/>
              <a:t>: </a:t>
            </a:r>
            <a:r>
              <a:rPr lang="de-DE" sz="2000" dirty="0" err="1"/>
              <a:t>Temperature</a:t>
            </a:r>
            <a:r>
              <a:rPr lang="de-DE" sz="2000" dirty="0"/>
              <a:t>, Model </a:t>
            </a:r>
            <a:r>
              <a:rPr lang="de-DE" sz="2000" dirty="0" err="1"/>
              <a:t>response</a:t>
            </a:r>
            <a:r>
              <a:rPr lang="de-DE" sz="2000" dirty="0"/>
              <a:t> </a:t>
            </a:r>
            <a:r>
              <a:rPr lang="de-DE" sz="2000" dirty="0" err="1"/>
              <a:t>template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76381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A522-8AFA-B1AD-B1DF-53EF4915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Latency</a:t>
            </a:r>
            <a:r>
              <a:rPr lang="de-DE" dirty="0"/>
              <a:t> benchmark</a:t>
            </a:r>
          </a:p>
        </p:txBody>
      </p:sp>
    </p:spTree>
    <p:extLst>
      <p:ext uri="{BB962C8B-B14F-4D97-AF65-F5344CB8AC3E}">
        <p14:creationId xmlns:p14="http://schemas.microsoft.com/office/powerpoint/2010/main" val="2633951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86A94A5F-D668-0225-AC73-C0EF56871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730" y="1825988"/>
            <a:ext cx="5291666" cy="3783541"/>
          </a:xfrm>
          <a:prstGeom prst="rect">
            <a:avLst/>
          </a:prstGeom>
        </p:spPr>
      </p:pic>
      <p:pic>
        <p:nvPicPr>
          <p:cNvPr id="9" name="Picture 8" descr="A graph with a red line&#10;&#10;AI-generated content may be incorrect.">
            <a:extLst>
              <a:ext uri="{FF2B5EF4-FFF2-40B4-BE49-F238E27FC236}">
                <a16:creationId xmlns:a16="http://schemas.microsoft.com/office/drawing/2014/main" id="{E67AF2DD-4341-BB97-D1E7-7E0AEBBE1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22" y="1825987"/>
            <a:ext cx="5291667" cy="37835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91784B-C423-618A-78F3-5C67D98F22D7}"/>
              </a:ext>
            </a:extLst>
          </p:cNvPr>
          <p:cNvSpPr txBox="1"/>
          <p:nvPr/>
        </p:nvSpPr>
        <p:spPr>
          <a:xfrm>
            <a:off x="729916" y="176463"/>
            <a:ext cx="1076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Ideally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839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C5376A-8FFC-6DCD-0400-4554E05B5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868" y="1136109"/>
            <a:ext cx="6714281" cy="479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16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4999-5380-BDC5-5F7B-48DBC6A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F532D-D959-7406-263E-82648290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4912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282EEE-FEB4-DC1D-353E-A458147E8809}"/>
              </a:ext>
            </a:extLst>
          </p:cNvPr>
          <p:cNvSpPr txBox="1"/>
          <p:nvPr/>
        </p:nvSpPr>
        <p:spPr>
          <a:xfrm>
            <a:off x="834189" y="835340"/>
            <a:ext cx="9849853" cy="20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 of </a:t>
            </a: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parallel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requests: N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 to 10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 of repetitions per request: M =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10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Note: for each N we run M repetitions with the same prompt to get statistics like averages.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Prompt: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"Give me a sentence with each letter used at least and at most once:",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Mistral Small 3.2 24b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0E19C213-6166-5C4B-3BAE-4E6E36D02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36" y="3076329"/>
            <a:ext cx="8969517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3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FAEDAF-5BF6-9304-FFFD-8707C975D6FD}"/>
              </a:ext>
            </a:extLst>
          </p:cNvPr>
          <p:cNvSpPr txBox="1"/>
          <p:nvPr/>
        </p:nvSpPr>
        <p:spPr>
          <a:xfrm>
            <a:off x="1259305" y="890337"/>
            <a:ext cx="909587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Things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note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benchmarking</a:t>
            </a:r>
            <a:r>
              <a:rPr lang="de-DE" dirty="0"/>
              <a:t>: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Cold </a:t>
            </a:r>
            <a:r>
              <a:rPr lang="de-DE" b="1" dirty="0" err="1"/>
              <a:t>starts</a:t>
            </a:r>
            <a:r>
              <a:rPr lang="de-DE" dirty="0"/>
              <a:t>. </a:t>
            </a:r>
            <a:r>
              <a:rPr lang="de-DE" dirty="0" err="1"/>
              <a:t>Pre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.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keeps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in-</a:t>
            </a:r>
            <a:r>
              <a:rPr lang="de-DE" dirty="0" err="1"/>
              <a:t>mem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5 </a:t>
            </a:r>
            <a:r>
              <a:rPr lang="de-DE" dirty="0" err="1"/>
              <a:t>minutes</a:t>
            </a:r>
            <a:r>
              <a:rPr lang="de-DE" dirty="0"/>
              <a:t>. 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changed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keep_alive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KV Cache : </a:t>
            </a:r>
            <a:r>
              <a:rPr lang="de-DE" dirty="0" err="1"/>
              <a:t>stores</a:t>
            </a:r>
            <a:r>
              <a:rPr lang="de-DE" dirty="0"/>
              <a:t> </a:t>
            </a:r>
            <a:r>
              <a:rPr lang="de-DE" dirty="0" err="1"/>
              <a:t>previous</a:t>
            </a:r>
            <a:r>
              <a:rPr lang="de-DE" dirty="0"/>
              <a:t> Key-Value </a:t>
            </a:r>
            <a:r>
              <a:rPr lang="de-DE" dirty="0" err="1"/>
              <a:t>calculations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underlying</a:t>
            </a:r>
            <a:r>
              <a:rPr lang="de-DE" dirty="0"/>
              <a:t> </a:t>
            </a:r>
            <a:r>
              <a:rPr lang="de-DE" dirty="0" err="1"/>
              <a:t>transformer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tokens</a:t>
            </a:r>
            <a:r>
              <a:rPr lang="de-DE" dirty="0"/>
              <a:t> </a:t>
            </a:r>
            <a:r>
              <a:rPr lang="de-DE" dirty="0" err="1"/>
              <a:t>faster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/>
              <a:t>     *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prompt multiple </a:t>
            </a:r>
            <a:r>
              <a:rPr lang="de-DE" dirty="0" err="1"/>
              <a:t>times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speed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KV Cache *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CCAA4B-F80A-E3D2-396F-463707538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834" y="2090666"/>
            <a:ext cx="6370872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21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8CB591-DBDE-E5D1-9609-D3A599E86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63" y="799316"/>
            <a:ext cx="9019405" cy="158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FDEB88-E43D-9CEE-A6D0-C5E374F57648}"/>
              </a:ext>
            </a:extLst>
          </p:cNvPr>
          <p:cNvSpPr txBox="1"/>
          <p:nvPr/>
        </p:nvSpPr>
        <p:spPr>
          <a:xfrm>
            <a:off x="982980" y="2910840"/>
            <a:ext cx="88315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: </a:t>
            </a:r>
          </a:p>
          <a:p>
            <a:r>
              <a:rPr lang="de-DE" dirty="0"/>
              <a:t>	- mistral-small3.2:24b –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128K </a:t>
            </a:r>
          </a:p>
          <a:p>
            <a:r>
              <a:rPr lang="de-DE" dirty="0"/>
              <a:t>	- mistral-v0.3:latest (7B) –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32K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Tried</a:t>
            </a:r>
            <a:r>
              <a:rPr lang="de-DE" dirty="0"/>
              <a:t> OLLAMA_NUM_PARALLEL = 32</a:t>
            </a:r>
          </a:p>
          <a:p>
            <a:r>
              <a:rPr lang="de-DE" dirty="0"/>
              <a:t>	- mistral24b </a:t>
            </a:r>
            <a:r>
              <a:rPr lang="de-DE" dirty="0" err="1"/>
              <a:t>with</a:t>
            </a:r>
            <a:r>
              <a:rPr lang="de-DE" dirty="0"/>
              <a:t> 128K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doesnt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  <a:p>
            <a:r>
              <a:rPr lang="de-DE" dirty="0"/>
              <a:t>	- mistral7b </a:t>
            </a:r>
            <a:r>
              <a:rPr lang="de-DE" dirty="0" err="1"/>
              <a:t>runs</a:t>
            </a:r>
            <a:r>
              <a:rPr lang="de-DE" dirty="0"/>
              <a:t> </a:t>
            </a:r>
            <a:r>
              <a:rPr lang="de-DE" dirty="0" err="1"/>
              <a:t>blazingly</a:t>
            </a:r>
            <a:r>
              <a:rPr lang="de-DE" dirty="0"/>
              <a:t> fast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1 </a:t>
            </a:r>
            <a:r>
              <a:rPr lang="de-DE" dirty="0" err="1"/>
              <a:t>gpu</a:t>
            </a:r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Reducing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mistral24b </a:t>
            </a:r>
            <a:r>
              <a:rPr lang="de-DE" dirty="0" err="1"/>
              <a:t>from</a:t>
            </a:r>
            <a:r>
              <a:rPr lang="de-DE" dirty="0"/>
              <a:t> 128K </a:t>
            </a:r>
            <a:r>
              <a:rPr lang="de-DE" dirty="0" err="1"/>
              <a:t>to</a:t>
            </a:r>
            <a:r>
              <a:rPr lang="de-DE" dirty="0"/>
              <a:t> 32K </a:t>
            </a:r>
            <a:r>
              <a:rPr lang="de-DE" dirty="0" err="1"/>
              <a:t>is</a:t>
            </a:r>
            <a:r>
              <a:rPr lang="de-DE" dirty="0"/>
              <a:t> possible via </a:t>
            </a:r>
            <a:r>
              <a:rPr lang="de-DE" dirty="0" err="1"/>
              <a:t>the</a:t>
            </a:r>
            <a:r>
              <a:rPr lang="de-DE" dirty="0"/>
              <a:t> Modelfile and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server</a:t>
            </a:r>
            <a:endParaRPr lang="de-DE" dirty="0"/>
          </a:p>
          <a:p>
            <a:r>
              <a:rPr lang="de-DE" dirty="0"/>
              <a:t>       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61FAA01-2E63-C8D5-B2AA-C5006BE2D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118" y="5738616"/>
            <a:ext cx="3955123" cy="6401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0CDDE0-4746-B73B-A922-C84B6B827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63" y="271751"/>
            <a:ext cx="5113463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01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A84B4-12B6-8BE0-D1F4-398A94E4E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789"/>
            <a:ext cx="10515600" cy="5495174"/>
          </a:xfrm>
        </p:spPr>
        <p:txBody>
          <a:bodyPr>
            <a:normAutofit/>
          </a:bodyPr>
          <a:lstStyle/>
          <a:p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ollama</a:t>
            </a:r>
            <a:r>
              <a:rPr lang="de-DE" sz="2000" dirty="0"/>
              <a:t> </a:t>
            </a:r>
            <a:r>
              <a:rPr lang="de-DE" sz="2000" dirty="0" err="1"/>
              <a:t>container</a:t>
            </a:r>
            <a:r>
              <a:rPr lang="de-DE" sz="2000" dirty="0"/>
              <a:t> </a:t>
            </a:r>
            <a:r>
              <a:rPr lang="de-DE" sz="2000" dirty="0" err="1"/>
              <a:t>started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N_parallel</a:t>
            </a:r>
            <a:r>
              <a:rPr lang="de-DE" sz="2000" dirty="0"/>
              <a:t>=4 and 8 parallel </a:t>
            </a:r>
            <a:r>
              <a:rPr lang="de-DE" sz="2000" dirty="0" err="1"/>
              <a:t>requests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made</a:t>
            </a:r>
            <a:r>
              <a:rPr lang="de-DE" sz="2000" dirty="0"/>
              <a:t> </a:t>
            </a:r>
            <a:r>
              <a:rPr lang="de-DE" sz="2000" dirty="0" err="1"/>
              <a:t>then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remaining</a:t>
            </a:r>
            <a:r>
              <a:rPr lang="de-DE" sz="2000" dirty="0"/>
              <a:t> 4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queued</a:t>
            </a:r>
            <a:r>
              <a:rPr lang="de-DE" sz="2000" dirty="0"/>
              <a:t>. At a time </a:t>
            </a:r>
            <a:r>
              <a:rPr lang="de-DE" sz="2000" dirty="0" err="1"/>
              <a:t>only</a:t>
            </a:r>
            <a:r>
              <a:rPr lang="de-DE" sz="2000" dirty="0"/>
              <a:t> 4 will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processed</a:t>
            </a:r>
            <a:r>
              <a:rPr lang="de-DE" sz="2000" dirty="0"/>
              <a:t>.</a:t>
            </a:r>
          </a:p>
          <a:p>
            <a:endParaRPr lang="de-DE" sz="2000" dirty="0"/>
          </a:p>
          <a:p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model</a:t>
            </a:r>
            <a:r>
              <a:rPr lang="de-DE" sz="2000" dirty="0"/>
              <a:t> (+kv </a:t>
            </a:r>
            <a:r>
              <a:rPr lang="de-DE" sz="2000" dirty="0" err="1"/>
              <a:t>cache</a:t>
            </a:r>
            <a:r>
              <a:rPr lang="de-DE" sz="2000" dirty="0"/>
              <a:t>) </a:t>
            </a:r>
            <a:r>
              <a:rPr lang="de-DE" sz="2000" dirty="0" err="1"/>
              <a:t>cannot</a:t>
            </a:r>
            <a:r>
              <a:rPr lang="de-DE" sz="2000" dirty="0"/>
              <a:t> </a:t>
            </a:r>
            <a:r>
              <a:rPr lang="de-DE" sz="2000" dirty="0" err="1"/>
              <a:t>be</a:t>
            </a:r>
            <a:r>
              <a:rPr lang="de-DE" sz="2000" dirty="0"/>
              <a:t> fit </a:t>
            </a:r>
            <a:r>
              <a:rPr lang="de-DE" sz="2000" dirty="0" err="1"/>
              <a:t>into</a:t>
            </a:r>
            <a:r>
              <a:rPr lang="de-DE" sz="2000" dirty="0"/>
              <a:t> </a:t>
            </a:r>
            <a:r>
              <a:rPr lang="de-DE" sz="2000" dirty="0" err="1"/>
              <a:t>gpu</a:t>
            </a:r>
            <a:r>
              <a:rPr lang="de-DE" sz="2000" dirty="0"/>
              <a:t> </a:t>
            </a:r>
            <a:r>
              <a:rPr lang="de-DE" sz="2000" dirty="0" err="1"/>
              <a:t>it</a:t>
            </a:r>
            <a:r>
              <a:rPr lang="de-DE" sz="2000" dirty="0"/>
              <a:t> will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loaded</a:t>
            </a:r>
            <a:r>
              <a:rPr lang="de-DE" sz="2000" dirty="0"/>
              <a:t> </a:t>
            </a:r>
            <a:r>
              <a:rPr lang="de-DE" sz="2000" dirty="0" err="1"/>
              <a:t>partially</a:t>
            </a:r>
            <a:r>
              <a:rPr lang="de-DE" sz="2000" dirty="0"/>
              <a:t> on </a:t>
            </a:r>
            <a:r>
              <a:rPr lang="de-DE" sz="2000" dirty="0" err="1"/>
              <a:t>cpu</a:t>
            </a:r>
            <a:r>
              <a:rPr lang="de-DE" sz="2000" dirty="0"/>
              <a:t>. Container </a:t>
            </a:r>
            <a:r>
              <a:rPr lang="de-DE" sz="2000" dirty="0" err="1"/>
              <a:t>might</a:t>
            </a:r>
            <a:r>
              <a:rPr lang="de-DE" sz="2000" dirty="0"/>
              <a:t> </a:t>
            </a:r>
            <a:r>
              <a:rPr lang="de-DE" sz="2000" dirty="0" err="1"/>
              <a:t>either</a:t>
            </a:r>
            <a:r>
              <a:rPr lang="de-DE" sz="2000" dirty="0"/>
              <a:t> </a:t>
            </a:r>
            <a:r>
              <a:rPr lang="de-DE" sz="2000" dirty="0" err="1"/>
              <a:t>respond</a:t>
            </a:r>
            <a:r>
              <a:rPr lang="de-DE" sz="2000" dirty="0"/>
              <a:t> </a:t>
            </a:r>
            <a:r>
              <a:rPr lang="de-DE" sz="2000" dirty="0" err="1"/>
              <a:t>very</a:t>
            </a:r>
            <a:r>
              <a:rPr lang="de-DE" sz="2000" dirty="0"/>
              <a:t> </a:t>
            </a:r>
            <a:r>
              <a:rPr lang="de-DE" sz="2000" dirty="0" err="1"/>
              <a:t>slowly</a:t>
            </a:r>
            <a:r>
              <a:rPr lang="de-DE" sz="2000" dirty="0"/>
              <a:t> (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cpu</a:t>
            </a:r>
            <a:r>
              <a:rPr lang="de-DE" sz="2000" dirty="0"/>
              <a:t>) OR crash</a:t>
            </a:r>
          </a:p>
          <a:p>
            <a:endParaRPr lang="de-DE" sz="2000" dirty="0"/>
          </a:p>
          <a:p>
            <a:r>
              <a:rPr lang="de-DE" sz="2000" dirty="0" err="1"/>
              <a:t>Ollama</a:t>
            </a:r>
            <a:r>
              <a:rPr lang="de-DE" sz="2000" dirty="0"/>
              <a:t> </a:t>
            </a:r>
            <a:r>
              <a:rPr lang="de-DE" sz="2000" dirty="0" err="1"/>
              <a:t>can</a:t>
            </a:r>
            <a:r>
              <a:rPr lang="de-DE" sz="2000" dirty="0"/>
              <a:t>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optimized</a:t>
            </a:r>
            <a:r>
              <a:rPr lang="de-DE" sz="2000" dirty="0"/>
              <a:t> </a:t>
            </a:r>
            <a:r>
              <a:rPr lang="de-DE" sz="2000" dirty="0" err="1"/>
              <a:t>based</a:t>
            </a:r>
            <a:r>
              <a:rPr lang="de-DE" sz="2000" dirty="0"/>
              <a:t> on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usage</a:t>
            </a:r>
            <a:r>
              <a:rPr lang="de-DE" sz="2000" dirty="0"/>
              <a:t>.</a:t>
            </a:r>
          </a:p>
          <a:p>
            <a:pPr marL="0" indent="0">
              <a:buNone/>
            </a:pPr>
            <a:endParaRPr lang="de-DE" sz="2000" dirty="0"/>
          </a:p>
          <a:p>
            <a:r>
              <a:rPr lang="de-DE" sz="2000" dirty="0"/>
              <a:t>Something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long</a:t>
            </a:r>
            <a:r>
              <a:rPr lang="de-DE" sz="2000" dirty="0"/>
              <a:t> </a:t>
            </a:r>
            <a:r>
              <a:rPr lang="de-DE" sz="2000" dirty="0" err="1"/>
              <a:t>term</a:t>
            </a:r>
            <a:r>
              <a:rPr lang="de-DE" sz="2000" dirty="0"/>
              <a:t>: </a:t>
            </a:r>
            <a:r>
              <a:rPr lang="de-DE" sz="2000" dirty="0" err="1"/>
              <a:t>What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an </a:t>
            </a:r>
            <a:r>
              <a:rPr lang="de-DE" sz="2000" dirty="0" err="1"/>
              <a:t>estimate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how</a:t>
            </a:r>
            <a:r>
              <a:rPr lang="de-DE" sz="2000" dirty="0"/>
              <a:t> </a:t>
            </a:r>
            <a:r>
              <a:rPr lang="de-DE" sz="2000" dirty="0" err="1"/>
              <a:t>many</a:t>
            </a:r>
            <a:r>
              <a:rPr lang="de-DE" sz="2000" dirty="0"/>
              <a:t> </a:t>
            </a:r>
            <a:r>
              <a:rPr lang="de-DE" sz="2000" dirty="0" err="1"/>
              <a:t>users</a:t>
            </a:r>
            <a:r>
              <a:rPr lang="de-DE" sz="2000" dirty="0"/>
              <a:t>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would</a:t>
            </a:r>
            <a:r>
              <a:rPr lang="de-DE" sz="2000" dirty="0"/>
              <a:t> </a:t>
            </a:r>
            <a:r>
              <a:rPr lang="de-DE" sz="2000" dirty="0" err="1"/>
              <a:t>have</a:t>
            </a:r>
            <a:r>
              <a:rPr lang="de-DE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1705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B806E-A761-8540-DAAA-7CBB27F3F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33786"/>
              </p:ext>
            </p:extLst>
          </p:nvPr>
        </p:nvGraphicFramePr>
        <p:xfrm>
          <a:off x="826167" y="719666"/>
          <a:ext cx="10355178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03">
                  <a:extLst>
                    <a:ext uri="{9D8B030D-6E8A-4147-A177-3AD203B41FA5}">
                      <a16:colId xmlns:a16="http://schemas.microsoft.com/office/drawing/2014/main" val="3812507477"/>
                    </a:ext>
                  </a:extLst>
                </a:gridCol>
                <a:gridCol w="1715319">
                  <a:extLst>
                    <a:ext uri="{9D8B030D-6E8A-4147-A177-3AD203B41FA5}">
                      <a16:colId xmlns:a16="http://schemas.microsoft.com/office/drawing/2014/main" val="1249170503"/>
                    </a:ext>
                  </a:extLst>
                </a:gridCol>
                <a:gridCol w="1479311">
                  <a:extLst>
                    <a:ext uri="{9D8B030D-6E8A-4147-A177-3AD203B41FA5}">
                      <a16:colId xmlns:a16="http://schemas.microsoft.com/office/drawing/2014/main" val="2307413282"/>
                    </a:ext>
                  </a:extLst>
                </a:gridCol>
                <a:gridCol w="1525320">
                  <a:extLst>
                    <a:ext uri="{9D8B030D-6E8A-4147-A177-3AD203B41FA5}">
                      <a16:colId xmlns:a16="http://schemas.microsoft.com/office/drawing/2014/main" val="2098179412"/>
                    </a:ext>
                  </a:extLst>
                </a:gridCol>
                <a:gridCol w="1433302">
                  <a:extLst>
                    <a:ext uri="{9D8B030D-6E8A-4147-A177-3AD203B41FA5}">
                      <a16:colId xmlns:a16="http://schemas.microsoft.com/office/drawing/2014/main" val="3744528874"/>
                    </a:ext>
                  </a:extLst>
                </a:gridCol>
                <a:gridCol w="1733559">
                  <a:extLst>
                    <a:ext uri="{9D8B030D-6E8A-4147-A177-3AD203B41FA5}">
                      <a16:colId xmlns:a16="http://schemas.microsoft.com/office/drawing/2014/main" val="553343414"/>
                    </a:ext>
                  </a:extLst>
                </a:gridCol>
                <a:gridCol w="1225064">
                  <a:extLst>
                    <a:ext uri="{9D8B030D-6E8A-4147-A177-3AD203B41FA5}">
                      <a16:colId xmlns:a16="http://schemas.microsoft.com/office/drawing/2014/main" val="2769444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Max N (Max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Length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ctx_len</a:t>
                      </a:r>
                      <a:r>
                        <a:rPr lang="de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Number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actual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async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made</a:t>
                      </a:r>
                      <a:r>
                        <a:rPr lang="de-DE" dirty="0"/>
                        <a:t>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Tokens/sec at </a:t>
                      </a:r>
                      <a:r>
                        <a:rPr lang="de-DE" dirty="0" err="1"/>
                        <a:t>max</a:t>
                      </a:r>
                      <a:r>
                        <a:rPr lang="de-DE" dirty="0"/>
                        <a:t>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636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mistral-small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14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8K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83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10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53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1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416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445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74ABA-F3AE-56F7-1F9E-B26E18D2E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accounted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294472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3DD671-7667-E0C5-FB10-F0F486DE1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061844"/>
              </p:ext>
            </p:extLst>
          </p:nvPr>
        </p:nvGraphicFramePr>
        <p:xfrm>
          <a:off x="327660" y="934085"/>
          <a:ext cx="10355178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03">
                  <a:extLst>
                    <a:ext uri="{9D8B030D-6E8A-4147-A177-3AD203B41FA5}">
                      <a16:colId xmlns:a16="http://schemas.microsoft.com/office/drawing/2014/main" val="2966692014"/>
                    </a:ext>
                  </a:extLst>
                </a:gridCol>
                <a:gridCol w="1715319">
                  <a:extLst>
                    <a:ext uri="{9D8B030D-6E8A-4147-A177-3AD203B41FA5}">
                      <a16:colId xmlns:a16="http://schemas.microsoft.com/office/drawing/2014/main" val="2376608198"/>
                    </a:ext>
                  </a:extLst>
                </a:gridCol>
                <a:gridCol w="1479311">
                  <a:extLst>
                    <a:ext uri="{9D8B030D-6E8A-4147-A177-3AD203B41FA5}">
                      <a16:colId xmlns:a16="http://schemas.microsoft.com/office/drawing/2014/main" val="2834259353"/>
                    </a:ext>
                  </a:extLst>
                </a:gridCol>
                <a:gridCol w="1525320">
                  <a:extLst>
                    <a:ext uri="{9D8B030D-6E8A-4147-A177-3AD203B41FA5}">
                      <a16:colId xmlns:a16="http://schemas.microsoft.com/office/drawing/2014/main" val="1662454904"/>
                    </a:ext>
                  </a:extLst>
                </a:gridCol>
                <a:gridCol w="1433302">
                  <a:extLst>
                    <a:ext uri="{9D8B030D-6E8A-4147-A177-3AD203B41FA5}">
                      <a16:colId xmlns:a16="http://schemas.microsoft.com/office/drawing/2014/main" val="187695647"/>
                    </a:ext>
                  </a:extLst>
                </a:gridCol>
                <a:gridCol w="1733559">
                  <a:extLst>
                    <a:ext uri="{9D8B030D-6E8A-4147-A177-3AD203B41FA5}">
                      <a16:colId xmlns:a16="http://schemas.microsoft.com/office/drawing/2014/main" val="2724412164"/>
                    </a:ext>
                  </a:extLst>
                </a:gridCol>
                <a:gridCol w="1225064">
                  <a:extLst>
                    <a:ext uri="{9D8B030D-6E8A-4147-A177-3AD203B41FA5}">
                      <a16:colId xmlns:a16="http://schemas.microsoft.com/office/drawing/2014/main" val="337559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Max N (Max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Length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ctx_len</a:t>
                      </a:r>
                      <a:r>
                        <a:rPr lang="de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Number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actual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async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made</a:t>
                      </a:r>
                      <a:r>
                        <a:rPr lang="de-DE" dirty="0"/>
                        <a:t>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Tokens/sec at </a:t>
                      </a:r>
                      <a:r>
                        <a:rPr lang="de-DE" dirty="0" err="1"/>
                        <a:t>max</a:t>
                      </a:r>
                      <a:r>
                        <a:rPr lang="de-DE" dirty="0"/>
                        <a:t>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55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mistral-small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38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8K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34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2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17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579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5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223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830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Widescreen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Testing the limits</vt:lpstr>
      <vt:lpstr>Factors considered </vt:lpstr>
      <vt:lpstr>PowerPoint Presentation</vt:lpstr>
      <vt:lpstr>VRAM benchmark</vt:lpstr>
      <vt:lpstr>PowerPoint Presentation</vt:lpstr>
      <vt:lpstr>PowerPoint Presentation</vt:lpstr>
      <vt:lpstr>Challenges along the way</vt:lpstr>
      <vt:lpstr>Latency benchmark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 Rohil Prakash (External)</dc:creator>
  <cp:lastModifiedBy>RAO Rohil Prakash (External)</cp:lastModifiedBy>
  <cp:revision>8</cp:revision>
  <dcterms:created xsi:type="dcterms:W3CDTF">2026-05-05T12:47:39Z</dcterms:created>
  <dcterms:modified xsi:type="dcterms:W3CDTF">2026-09-09T15:00:53Z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7b993a-7622-4ca9-b18f-a1c017beb90f_Enabled">
    <vt:lpwstr>true</vt:lpwstr>
  </property>
  <property fmtid="{D5CDD505-2E9C-101B-9397-08002B2CF9AE}" pid="3" name="MSIP_Label_d77b993a-7622-4ca9-b18f-a1c017beb90f_SetDate">
    <vt:lpwstr>2026-05-21T07:31:34Z</vt:lpwstr>
  </property>
  <property fmtid="{D5CDD505-2E9C-101B-9397-08002B2CF9AE}" pid="4" name="MSIP_Label_d77b993a-7622-4ca9-b18f-a1c017beb90f_Method">
    <vt:lpwstr>Standard</vt:lpwstr>
  </property>
  <property fmtid="{D5CDD505-2E9C-101B-9397-08002B2CF9AE}" pid="5" name="MSIP_Label_d77b993a-7622-4ca9-b18f-a1c017beb90f_Name">
    <vt:lpwstr>C1-No marking</vt:lpwstr>
  </property>
  <property fmtid="{D5CDD505-2E9C-101B-9397-08002B2CF9AE}" pid="6" name="MSIP_Label_d77b993a-7622-4ca9-b18f-a1c017beb90f_SiteId">
    <vt:lpwstr>152f9b3b-87f6-4551-b359-dc2527d190be</vt:lpwstr>
  </property>
  <property fmtid="{D5CDD505-2E9C-101B-9397-08002B2CF9AE}" pid="7" name="MSIP_Label_d77b993a-7622-4ca9-b18f-a1c017beb90f_ActionId">
    <vt:lpwstr>2345f0a9-af0d-4c8b-86f0-fe13d2513ef2</vt:lpwstr>
  </property>
  <property fmtid="{D5CDD505-2E9C-101B-9397-08002B2CF9AE}" pid="8" name="MSIP_Label_d77b993a-7622-4ca9-b18f-a1c017beb90f_ContentBits">
    <vt:lpwstr>0</vt:lpwstr>
  </property>
</Properties>
</file>